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8" r:id="rId3"/>
    <p:sldId id="258" r:id="rId4"/>
    <p:sldId id="272" r:id="rId5"/>
    <p:sldId id="271" r:id="rId6"/>
    <p:sldId id="262" r:id="rId7"/>
    <p:sldId id="273" r:id="rId8"/>
    <p:sldId id="263" r:id="rId9"/>
    <p:sldId id="274" r:id="rId10"/>
    <p:sldId id="279" r:id="rId11"/>
    <p:sldId id="264" r:id="rId12"/>
    <p:sldId id="275" r:id="rId13"/>
    <p:sldId id="268" r:id="rId14"/>
    <p:sldId id="265" r:id="rId15"/>
    <p:sldId id="267" r:id="rId16"/>
    <p:sldId id="276" r:id="rId17"/>
    <p:sldId id="277" r:id="rId18"/>
    <p:sldId id="280" r:id="rId19"/>
    <p:sldId id="28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7D23"/>
    <a:srgbClr val="D9F2D0"/>
    <a:srgbClr val="D86E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63"/>
    <p:restoredTop sz="94751"/>
  </p:normalViewPr>
  <p:slideViewPr>
    <p:cSldViewPr>
      <p:cViewPr varScale="1">
        <p:scale>
          <a:sx n="113" d="100"/>
          <a:sy n="113" d="100"/>
        </p:scale>
        <p:origin x="18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14A72-B03E-D748-ACD0-FDE68A7647C9}" type="datetimeFigureOut">
              <a:rPr lang="en-US" smtClean="0"/>
              <a:t>7/26/26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80263D-AD8E-9E4C-B25B-9C63F2F59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290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47F35-40E1-9044-B85E-8A1F398DC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91247-3729-D53D-A7B1-8444C0E69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8B41BE-E922-4071-46EF-C623CEF53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F0D18-9F88-CD46-E68E-9B156A5B75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0263D-AD8E-9E4C-B25B-9C63F2F5946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23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0263D-AD8E-9E4C-B25B-9C63F2F5946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02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CC772-9204-7864-C937-A1F753E3F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8438CC-C2C6-E5A1-05B1-ED815AAC65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6C9230-0F78-5ABE-7B6A-A5AD08F57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Add more visualizations along the way. Like visualize demographic data influencing trip profiles for example</a:t>
            </a:r>
          </a:p>
          <a:p>
            <a:pPr marL="171450" indent="-171450">
              <a:buFontTx/>
              <a:buChar char="-"/>
            </a:pPr>
            <a:r>
              <a:rPr lang="en-US" dirty="0"/>
              <a:t>Representation of load shifting under different assumptions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03CAB-FCA0-A43F-4CCA-D3C7F8CF7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0263D-AD8E-9E4C-B25B-9C63F2F5946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02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A83EB-8105-ECD5-E784-20F71C1AD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F8F5E5-D52C-DEF2-344F-81021E717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9090DC-12C6-F764-5672-C41B2E5C6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Add more visualizations along the way. Like visualize demographic data influencing trip profiles for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740C5-FCB4-006F-1733-49807B7DC8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0263D-AD8E-9E4C-B25B-9C63F2F5946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264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0263D-AD8E-9E4C-B25B-9C63F2F5946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460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E01F2-748A-A03F-89E6-677F0F0D6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A8A02F-5A31-4FE3-AF45-3181D02FA0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A92FA9-F7B4-DBCA-6B5C-BA16AAF31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75EF6-00F2-AEA3-1787-77499C7136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0263D-AD8E-9E4C-B25B-9C63F2F5946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8928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See if we can compare our distribution of EV daily miles traveled against 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0263D-AD8E-9E4C-B25B-9C63F2F5946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271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B0CCF-820D-A2CA-C58E-C539D8FFA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9D5E82-DDB9-B23C-CD97-532556F72E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2376A4-753E-94F1-3F1A-BBED39E93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See if we can compare our distribution of EV daily miles traveled against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F896E-9A12-9C3F-1E48-D660329BC3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0263D-AD8E-9E4C-B25B-9C63F2F5946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704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F943D-514B-863F-FC0D-8BE71DC7C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C68D86-D9DA-9E35-DDD4-CD8961E3D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D8CFF1-2EF9-B11A-A99D-F6C6EB784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See if we can compare our distribution of EV daily miles traveled against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DB964-2F24-90ED-714B-AC3FD083B4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0263D-AD8E-9E4C-B25B-9C63F2F5946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8592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0263D-AD8E-9E4C-B25B-9C63F2F5946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107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A6752-3087-07D3-BE9E-416069053A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FEB1F5-4C78-9D21-12FC-A3FFDFCD6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8E8F3-5C78-D156-5638-55B98618E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6B5E-A1D0-FF42-9C00-44B119C5C6A5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B6640-11E3-2ACF-1433-2FA3484A0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6C3BC-F470-AF89-4F4C-C6BA3B2FC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90421-E242-8547-821B-92C8884C0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179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F59C7-88F7-84A5-34B7-1C973D6F8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FBFDF-BD09-A99E-5A91-DCEAF160D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75344-6D86-1312-0409-E7E4F8408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6B5E-A1D0-FF42-9C00-44B119C5C6A5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1984E-4EF9-7865-712D-0B7AF51B5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AAD43-A8BA-E40F-15F5-5CC133A6A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90421-E242-8547-821B-92C8884C0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371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56A3-E841-C4C8-7663-EAC34E086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42BA6-B05E-5DF6-90F6-2887BF002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6515D-95EF-AD34-4AB3-1572E0D80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6B5E-A1D0-FF42-9C00-44B119C5C6A5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27428-31DA-1732-FA77-604D0B7A4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B904A-23B6-2C99-298C-795C8FC54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90421-E242-8547-821B-92C8884C0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770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0ACD1-E8CC-0598-399E-A5D381A71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E2004-FD11-994C-DE67-B1626F1F2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B0BEBB-1F1B-2A29-1B53-CBA85EB9D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CA102-4A58-E55D-90AE-56AA52F9B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6B5E-A1D0-FF42-9C00-44B119C5C6A5}" type="datetimeFigureOut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15483-BAAE-C3FB-C40F-65347BD8D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F7ED54-3AF2-648C-B72D-FC333886F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90421-E242-8547-821B-92C8884C0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413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330AE-61D6-9134-2766-4921B49B5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0FC71A-2A42-BB18-0EE4-C19B418AD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9F1FDD-7D75-5412-8CE5-289272001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F18CEF-9E7F-73C1-CC7D-EEC42FF0D7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A899B7-AB28-C28A-0B87-DF45E9C76A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E3A4C2-7956-10A9-BED5-023FCB632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6B5E-A1D0-FF42-9C00-44B119C5C6A5}" type="datetimeFigureOut">
              <a:rPr lang="en-US" smtClean="0"/>
              <a:t>7/26/26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9C92C-7692-C649-F14B-91A3CA53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F24D4D-BD25-403F-9848-844D6C8AA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90421-E242-8547-821B-92C8884C0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34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B891F-1C10-8066-17DC-B03B50672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18546B-0106-64C4-73C7-781A34319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6B5E-A1D0-FF42-9C00-44B119C5C6A5}" type="datetimeFigureOut">
              <a:rPr lang="en-US" smtClean="0"/>
              <a:t>7/26/26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9CDEE-9F98-EF8D-AFB0-3B3616739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63FB4B-6C40-C515-8628-B70D71CFF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90421-E242-8547-821B-92C8884C0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82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2FFCE1-302C-FAEE-02AE-55482084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6B5E-A1D0-FF42-9C00-44B119C5C6A5}" type="datetimeFigureOut">
              <a:rPr lang="en-US" smtClean="0"/>
              <a:t>7/26/26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FBAF51-465B-CC46-8853-AFFE05814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B456C-3B87-FDF2-3078-FDD056E1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90421-E242-8547-821B-92C8884C0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162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A5C83-D185-6929-2C99-DF3D3EE72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FED72-E5B5-D01E-335C-8297B5506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0A3A5-0698-53C6-EE14-DDD3A64CF7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35DF4-73BA-177B-AEEE-E70A55FC6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6B5E-A1D0-FF42-9C00-44B119C5C6A5}" type="datetimeFigureOut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3BC10-BAB3-2BB3-D46F-9763710A6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F2028-0F53-ED72-7254-7AE000654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90421-E242-8547-821B-92C8884C0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449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7941C-DF6D-9B4F-3D8C-10380AB2D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EB4CA5-2952-D563-9E34-4DA16CFEF5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1D6AED-3024-8F0C-9410-458EDD2DA4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4E2D1-8B61-4AD6-9BF7-6BDF24530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6B5E-A1D0-FF42-9C00-44B119C5C6A5}" type="datetimeFigureOut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F88B2C-23F4-0AF8-7D95-794E256CE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397A35-D59D-38EF-BF9C-063B8CB7E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90421-E242-8547-821B-92C8884C0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557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E5D85-9DF9-2BED-9C02-9BB77FF18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E4CC9A-EC0E-47BD-F5CF-3B6DD1B8F8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E595C-EFBA-0682-F6BE-FF8100BB3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6B5E-A1D0-FF42-9C00-44B119C5C6A5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ECB09-B822-FC64-4CA9-DB5E18525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93469-A368-AEFF-3B8A-176E779F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90421-E242-8547-821B-92C8884C0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499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70FE7F-41B1-FBED-54D0-D67AAED511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452678-80B9-2D96-187A-DC721EF0D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E90D1-1EEC-603A-437A-31DEA9EDD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6B5E-A1D0-FF42-9C00-44B119C5C6A5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6639A-5D95-15B9-BEFB-B705E466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2DEC2-47BA-1E4E-835E-8DA0A9F8C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90421-E242-8547-821B-92C8884C0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415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6BDA55-7D80-BE05-DDB0-6C4BE3D1D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8D6EAA-15D6-CA0F-199A-D0A51BFA2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E6FA5-61E7-F989-B1B0-004C536C17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A16B5E-A1D0-FF42-9C00-44B119C5C6A5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0DA0B-BBD6-C828-BCF1-9CBC43BCA5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9299E-E7CB-26CC-5CAA-B8A96254ED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490421-E242-8547-821B-92C8884C0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133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13317-8137-EB54-7A12-6D95555DC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66800"/>
            <a:ext cx="9144000" cy="2687638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Modeling the Residential </a:t>
            </a:r>
            <a:br>
              <a:rPr lang="en-US" dirty="0">
                <a:latin typeface="Avenir Book" panose="02000503020000020003" pitchFamily="2" charset="0"/>
              </a:rPr>
            </a:br>
            <a:r>
              <a:rPr lang="en-US" dirty="0">
                <a:latin typeface="Avenir Book" panose="02000503020000020003" pitchFamily="2" charset="0"/>
              </a:rPr>
              <a:t>EV Charging Load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005F9C-E030-1294-4A64-9EA29D204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40237"/>
            <a:ext cx="9144000" cy="1219200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Presented by: Lily Gittoes</a:t>
            </a:r>
          </a:p>
          <a:p>
            <a:r>
              <a:rPr lang="en-US" dirty="0">
                <a:latin typeface="Avenir Book" panose="02000503020000020003" pitchFamily="2" charset="0"/>
              </a:rPr>
              <a:t>July 24, 2026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683F085-9206-B958-0000-E84C7F5AA3BB}"/>
              </a:ext>
            </a:extLst>
          </p:cNvPr>
          <p:cNvSpPr/>
          <p:nvPr/>
        </p:nvSpPr>
        <p:spPr>
          <a:xfrm>
            <a:off x="1371600" y="1524000"/>
            <a:ext cx="9448800" cy="2590800"/>
          </a:xfrm>
          <a:prstGeom prst="roundRect">
            <a:avLst>
              <a:gd name="adj" fmla="val 964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435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02BF9-E052-1EB9-3343-142C18CEC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A716D-BCCD-C85F-879E-E35048850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Presentation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67E73-BB1F-ACFF-F77C-A4AB6E72F0B1}"/>
              </a:ext>
            </a:extLst>
          </p:cNvPr>
          <p:cNvSpPr txBox="1">
            <a:spLocks/>
          </p:cNvSpPr>
          <p:nvPr/>
        </p:nvSpPr>
        <p:spPr>
          <a:xfrm>
            <a:off x="914400" y="1447799"/>
            <a:ext cx="9448800" cy="2971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100" dirty="0">
                <a:latin typeface="Avenir Book" panose="02000503020000020003" pitchFamily="2" charset="0"/>
              </a:rPr>
              <a:t>Step through how we model the EV load in </a:t>
            </a:r>
            <a:r>
              <a:rPr lang="en-US" sz="2100" dirty="0" err="1">
                <a:latin typeface="Avenir Book" panose="02000503020000020003" pitchFamily="2" charset="0"/>
              </a:rPr>
              <a:t>ResStock</a:t>
            </a:r>
            <a:r>
              <a:rPr lang="en-US" sz="2100" dirty="0">
                <a:latin typeface="Avenir Book" panose="02000503020000020003" pitchFamily="2" charset="0"/>
              </a:rPr>
              <a:t> 2024: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EV adoption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Driving profiles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Simulating annual travel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EV characteristics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EV at home/away and discharge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Charging policies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68C6CD2-AE88-6FEB-5E18-26FD4C6A5F2C}"/>
              </a:ext>
            </a:extLst>
          </p:cNvPr>
          <p:cNvSpPr/>
          <p:nvPr/>
        </p:nvSpPr>
        <p:spPr>
          <a:xfrm>
            <a:off x="762000" y="1295400"/>
            <a:ext cx="9906000" cy="3124200"/>
          </a:xfrm>
          <a:prstGeom prst="roundRect">
            <a:avLst>
              <a:gd name="adj" fmla="val 62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3FB3A7-AB32-568D-AC50-D851B64D7C1A}"/>
              </a:ext>
            </a:extLst>
          </p:cNvPr>
          <p:cNvSpPr txBox="1">
            <a:spLocks/>
          </p:cNvSpPr>
          <p:nvPr/>
        </p:nvSpPr>
        <p:spPr>
          <a:xfrm>
            <a:off x="914400" y="4752277"/>
            <a:ext cx="9448800" cy="18009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100" dirty="0">
                <a:latin typeface="Avenir Book" panose="02000503020000020003" pitchFamily="2" charset="0"/>
              </a:rPr>
              <a:t>Along the way: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Modeling assumptions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Maryland simulation results for baseline </a:t>
            </a:r>
            <a:r>
              <a:rPr lang="en-US" sz="2100" dirty="0" err="1">
                <a:latin typeface="Avenir Book" panose="02000503020000020003" pitchFamily="2" charset="0"/>
              </a:rPr>
              <a:t>ResStock</a:t>
            </a:r>
            <a:r>
              <a:rPr lang="en-US" sz="2100" dirty="0">
                <a:latin typeface="Avenir Book" panose="02000503020000020003" pitchFamily="2" charset="0"/>
              </a:rPr>
              <a:t> 2024 scenario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Comparison to </a:t>
            </a:r>
            <a:r>
              <a:rPr lang="en-US" sz="2100" dirty="0" err="1">
                <a:latin typeface="Avenir Book" panose="02000503020000020003" pitchFamily="2" charset="0"/>
              </a:rPr>
              <a:t>ResStock</a:t>
            </a:r>
            <a:r>
              <a:rPr lang="en-US" sz="2100" dirty="0">
                <a:latin typeface="Avenir Book" panose="02000503020000020003" pitchFamily="2" charset="0"/>
              </a:rPr>
              <a:t> 2025 EV modeling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F3418A1-F3D0-820B-033D-0BEC17FEE747}"/>
              </a:ext>
            </a:extLst>
          </p:cNvPr>
          <p:cNvSpPr/>
          <p:nvPr/>
        </p:nvSpPr>
        <p:spPr>
          <a:xfrm>
            <a:off x="762000" y="4648200"/>
            <a:ext cx="9906000" cy="1828800"/>
          </a:xfrm>
          <a:prstGeom prst="roundRect">
            <a:avLst>
              <a:gd name="adj" fmla="val 62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187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 animBg="1"/>
      <p:bldP spid="4" grpId="0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0D526-91C1-955A-97B4-7F8D9DEBB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2A9B8-F648-2316-F5E8-3013027CA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Step 1: Model EV Adoption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A1BCB-A6BC-C55D-E3B2-5537718EE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9549" y="1742675"/>
            <a:ext cx="3657600" cy="1679575"/>
          </a:xfrm>
        </p:spPr>
        <p:txBody>
          <a:bodyPr>
            <a:normAutofit/>
          </a:bodyPr>
          <a:lstStyle/>
          <a:p>
            <a:r>
              <a:rPr lang="en-US" sz="2100" dirty="0">
                <a:latin typeface="Avenir Book" panose="02000503020000020003" pitchFamily="2" charset="0"/>
              </a:rPr>
              <a:t>Federal poverty level (FPL)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Building type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Tenure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PUMA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C2545EF0-13C0-910D-9664-EF78EF692737}"/>
              </a:ext>
            </a:extLst>
          </p:cNvPr>
          <p:cNvSpPr/>
          <p:nvPr/>
        </p:nvSpPr>
        <p:spPr>
          <a:xfrm>
            <a:off x="5834349" y="2431650"/>
            <a:ext cx="914400" cy="304800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D9F2D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91CCBC1-16A7-5B82-388A-1AB6114FA15D}"/>
              </a:ext>
            </a:extLst>
          </p:cNvPr>
          <p:cNvSpPr txBox="1">
            <a:spLocks/>
          </p:cNvSpPr>
          <p:nvPr/>
        </p:nvSpPr>
        <p:spPr>
          <a:xfrm>
            <a:off x="7315200" y="2399518"/>
            <a:ext cx="26670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P(own EV | segment)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86DB37D-283D-DD25-54DD-FF5B59417385}"/>
              </a:ext>
            </a:extLst>
          </p:cNvPr>
          <p:cNvSpPr/>
          <p:nvPr/>
        </p:nvSpPr>
        <p:spPr>
          <a:xfrm>
            <a:off x="7205949" y="2246199"/>
            <a:ext cx="2852451" cy="685800"/>
          </a:xfrm>
          <a:prstGeom prst="roundRect">
            <a:avLst>
              <a:gd name="adj" fmla="val 2067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DEDF69F-D587-118E-C61C-F1A557732BB2}"/>
              </a:ext>
            </a:extLst>
          </p:cNvPr>
          <p:cNvSpPr txBox="1">
            <a:spLocks/>
          </p:cNvSpPr>
          <p:nvPr/>
        </p:nvSpPr>
        <p:spPr>
          <a:xfrm>
            <a:off x="805149" y="1219200"/>
            <a:ext cx="73914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 dirty="0" err="1">
                <a:solidFill>
                  <a:srgbClr val="3B7D23"/>
                </a:solidFill>
                <a:latin typeface="Avenir Book" panose="02000503020000020003" pitchFamily="2" charset="0"/>
              </a:rPr>
              <a:t>ResStock</a:t>
            </a:r>
            <a:r>
              <a:rPr lang="en-US" sz="2100" b="1" dirty="0">
                <a:solidFill>
                  <a:schemeClr val="accent6">
                    <a:lumMod val="75000"/>
                  </a:schemeClr>
                </a:solidFill>
                <a:latin typeface="Avenir Book" panose="02000503020000020003" pitchFamily="2" charset="0"/>
              </a:rPr>
              <a:t> (2025) </a:t>
            </a:r>
            <a:r>
              <a:rPr lang="en-US" sz="2100" dirty="0">
                <a:latin typeface="Avenir Book" panose="02000503020000020003" pitchFamily="2" charset="0"/>
              </a:rPr>
              <a:t>provides EV ownership rates by segment: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CB8106C-4B91-FFC2-B277-6C0B0C2A715D}"/>
              </a:ext>
            </a:extLst>
          </p:cNvPr>
          <p:cNvSpPr txBox="1">
            <a:spLocks/>
          </p:cNvSpPr>
          <p:nvPr/>
        </p:nvSpPr>
        <p:spPr>
          <a:xfrm>
            <a:off x="433085" y="3721261"/>
            <a:ext cx="10082515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Plots of EV ownership rates by segment (weighted by PUMS source weights):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FD5E59E-510F-E206-543A-42316DEC4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42" y="4271058"/>
            <a:ext cx="3997203" cy="206987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EC147DB-7AB8-F984-B0B8-5ACE92A27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2459" y="4270263"/>
            <a:ext cx="4013522" cy="235255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273E548-116B-7968-AC51-BD40971975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2023" y="4286954"/>
            <a:ext cx="4025096" cy="1984122"/>
          </a:xfrm>
          <a:prstGeom prst="rect">
            <a:avLst/>
          </a:prstGeom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D0221B9-2115-4F9F-1534-D1C9C960D4E9}"/>
              </a:ext>
            </a:extLst>
          </p:cNvPr>
          <p:cNvSpPr/>
          <p:nvPr/>
        </p:nvSpPr>
        <p:spPr>
          <a:xfrm>
            <a:off x="1600200" y="1676400"/>
            <a:ext cx="3810000" cy="1828800"/>
          </a:xfrm>
          <a:prstGeom prst="roundRect">
            <a:avLst>
              <a:gd name="adj" fmla="val 933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515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/>
      <p:bldP spid="7" grpId="0" animBg="1"/>
      <p:bldP spid="8" grpId="0"/>
      <p:bldP spid="15" grpId="0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B2E63-825F-5F19-CB61-F2926812A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64BD9-91A4-EFD0-4035-DDC5FDA40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Step 1: Model EV Adoption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04629987-A633-F035-A16E-72A5BFA6A08D}"/>
              </a:ext>
            </a:extLst>
          </p:cNvPr>
          <p:cNvGraphicFramePr>
            <a:graphicFrameLocks noGrp="1"/>
          </p:cNvGraphicFramePr>
          <p:nvPr/>
        </p:nvGraphicFramePr>
        <p:xfrm>
          <a:off x="861350" y="1593448"/>
          <a:ext cx="10515601" cy="22098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377801490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3704969269"/>
                    </a:ext>
                  </a:extLst>
                </a:gridCol>
                <a:gridCol w="1763485">
                  <a:extLst>
                    <a:ext uri="{9D8B030D-6E8A-4147-A177-3AD203B41FA5}">
                      <a16:colId xmlns:a16="http://schemas.microsoft.com/office/drawing/2014/main" val="121629754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74715235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89050888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62467488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678787586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venir Book" panose="02000503020000020003" pitchFamily="2" charset="0"/>
                        </a:rPr>
                        <a:t>bldg_id</a:t>
                      </a:r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venir Book" panose="02000503020000020003" pitchFamily="2" charset="0"/>
                        </a:rPr>
                        <a:t>fpl</a:t>
                      </a:r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venir Book" panose="02000503020000020003" pitchFamily="2" charset="0"/>
                        </a:rPr>
                        <a:t>building_type</a:t>
                      </a:r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puma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tenure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P(EV)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EV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774787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3870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400%+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SF Detached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MD, 01001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0.047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97059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400%+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SF Detached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MD, 01203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0.029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119258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200-300%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SF Detached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MD, 01600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Renter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0.002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113794"/>
                  </a:ext>
                </a:extLst>
              </a:tr>
            </a:tbl>
          </a:graphicData>
        </a:graphic>
      </p:graphicFrame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47161F92-2728-E1AE-7CEB-78B4BBF8B3DC}"/>
              </a:ext>
            </a:extLst>
          </p:cNvPr>
          <p:cNvSpPr txBox="1">
            <a:spLocks/>
          </p:cNvSpPr>
          <p:nvPr/>
        </p:nvSpPr>
        <p:spPr>
          <a:xfrm>
            <a:off x="785149" y="1212448"/>
            <a:ext cx="4642635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ResStock</a:t>
            </a:r>
            <a:r>
              <a:rPr lang="en-US" sz="21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 (2024) </a:t>
            </a:r>
            <a:r>
              <a:rPr lang="en-US" sz="2100" dirty="0" err="1">
                <a:latin typeface="Avenir Book" panose="02000503020000020003" pitchFamily="2" charset="0"/>
              </a:rPr>
              <a:t>metadata_df</a:t>
            </a:r>
            <a:r>
              <a:rPr lang="en-US" sz="2100" dirty="0">
                <a:latin typeface="Avenir Book" panose="02000503020000020003" pitchFamily="2" charset="0"/>
              </a:rPr>
              <a:t> (MD):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C659D81F-1192-784B-9F3C-D9036633CE33}"/>
              </a:ext>
            </a:extLst>
          </p:cNvPr>
          <p:cNvSpPr txBox="1">
            <a:spLocks/>
          </p:cNvSpPr>
          <p:nvPr/>
        </p:nvSpPr>
        <p:spPr>
          <a:xfrm>
            <a:off x="8633750" y="1212448"/>
            <a:ext cx="2590800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Bernoulli sampling!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C9A01-002A-ED5D-E7EE-6FCA95D53163}"/>
              </a:ext>
            </a:extLst>
          </p:cNvPr>
          <p:cNvSpPr txBox="1">
            <a:spLocks/>
          </p:cNvSpPr>
          <p:nvPr/>
        </p:nvSpPr>
        <p:spPr>
          <a:xfrm>
            <a:off x="914400" y="4296509"/>
            <a:ext cx="4572000" cy="167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 dirty="0">
                <a:latin typeface="Avenir Book" panose="02000503020000020003" pitchFamily="2" charset="0"/>
              </a:rPr>
              <a:t>Assumptions: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Each household has at most 1 EV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Vacant units do not have EVs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C77636A-82F9-ECD9-60A1-417730E369AF}"/>
              </a:ext>
            </a:extLst>
          </p:cNvPr>
          <p:cNvSpPr txBox="1">
            <a:spLocks/>
          </p:cNvSpPr>
          <p:nvPr/>
        </p:nvSpPr>
        <p:spPr>
          <a:xfrm>
            <a:off x="5943600" y="4220309"/>
            <a:ext cx="5638800" cy="228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 dirty="0">
                <a:latin typeface="Avenir Book" panose="02000503020000020003" pitchFamily="2" charset="0"/>
              </a:rPr>
              <a:t>Scaling to future EV adoption:</a:t>
            </a:r>
          </a:p>
          <a:p>
            <a:r>
              <a:rPr lang="en-US" sz="21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TEMPO</a:t>
            </a:r>
            <a:r>
              <a:rPr lang="en-US" sz="2100" dirty="0">
                <a:latin typeface="Avenir Book" panose="02000503020000020003" pitchFamily="2" charset="0"/>
              </a:rPr>
              <a:t> model outputs EV stock in 3 scenarios (baseline, high electrification, and all EV sales by 2035)</a:t>
            </a:r>
          </a:p>
          <a:p>
            <a:r>
              <a:rPr lang="en-US" sz="2100" b="1" dirty="0" err="1">
                <a:solidFill>
                  <a:schemeClr val="accent6">
                    <a:lumMod val="75000"/>
                  </a:schemeClr>
                </a:solidFill>
                <a:latin typeface="Avenir Book" panose="02000503020000020003" pitchFamily="2" charset="0"/>
              </a:rPr>
              <a:t>ResStock</a:t>
            </a:r>
            <a:r>
              <a:rPr lang="en-US" sz="2100" b="1" dirty="0">
                <a:solidFill>
                  <a:schemeClr val="accent6">
                    <a:lumMod val="75000"/>
                  </a:schemeClr>
                </a:solidFill>
                <a:latin typeface="Avenir Book" panose="02000503020000020003" pitchFamily="2" charset="0"/>
              </a:rPr>
              <a:t> (2025) </a:t>
            </a:r>
            <a:r>
              <a:rPr lang="en-US" sz="2100" dirty="0">
                <a:latin typeface="Avenir Book" panose="02000503020000020003" pitchFamily="2" charset="0"/>
              </a:rPr>
              <a:t>EV adoption rates are aligned with </a:t>
            </a:r>
            <a:r>
              <a:rPr lang="en-US" sz="21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TEMPO</a:t>
            </a:r>
            <a:r>
              <a:rPr lang="en-US" sz="2100" dirty="0">
                <a:latin typeface="Avenir Book" panose="02000503020000020003" pitchFamily="2" charset="0"/>
              </a:rPr>
              <a:t> baseline year (2023)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3E2F296-A7AD-CD27-B6C9-2E7EB57573A0}"/>
              </a:ext>
            </a:extLst>
          </p:cNvPr>
          <p:cNvSpPr/>
          <p:nvPr/>
        </p:nvSpPr>
        <p:spPr>
          <a:xfrm>
            <a:off x="838200" y="4144109"/>
            <a:ext cx="4572000" cy="2209800"/>
          </a:xfrm>
          <a:prstGeom prst="roundRect">
            <a:avLst>
              <a:gd name="adj" fmla="val 62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D205246-BD7B-6097-CAD9-BCA4BBE21451}"/>
              </a:ext>
            </a:extLst>
          </p:cNvPr>
          <p:cNvSpPr/>
          <p:nvPr/>
        </p:nvSpPr>
        <p:spPr>
          <a:xfrm>
            <a:off x="5867400" y="4144109"/>
            <a:ext cx="5715000" cy="2209800"/>
          </a:xfrm>
          <a:prstGeom prst="roundRect">
            <a:avLst>
              <a:gd name="adj" fmla="val 62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915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3" grpId="0"/>
      <p:bldP spid="4" grpId="0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4C34B-3B5E-CBC0-81E3-926A72F25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6459-39C0-6E62-A0DC-D9D616ECB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Step 1: Model EV Adoption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7F08A5B-08C1-8C21-118F-AB511A9943D4}"/>
              </a:ext>
            </a:extLst>
          </p:cNvPr>
          <p:cNvSpPr txBox="1">
            <a:spLocks/>
          </p:cNvSpPr>
          <p:nvPr/>
        </p:nvSpPr>
        <p:spPr>
          <a:xfrm>
            <a:off x="433085" y="1143000"/>
            <a:ext cx="11758915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 err="1">
                <a:latin typeface="Avenir Book" panose="02000503020000020003" pitchFamily="2" charset="0"/>
              </a:rPr>
              <a:t>ResStock</a:t>
            </a:r>
            <a:r>
              <a:rPr lang="en-US" sz="2100" dirty="0">
                <a:latin typeface="Avenir Book" panose="02000503020000020003" pitchFamily="2" charset="0"/>
              </a:rPr>
              <a:t> (2024) MD sampled EV ownership rates by segment (apply </a:t>
            </a:r>
            <a:r>
              <a:rPr lang="en-US" sz="2100" dirty="0" err="1">
                <a:latin typeface="Avenir Book" panose="02000503020000020003" pitchFamily="2" charset="0"/>
              </a:rPr>
              <a:t>ResStock</a:t>
            </a:r>
            <a:r>
              <a:rPr lang="en-US" sz="2100" dirty="0">
                <a:latin typeface="Avenir Book" panose="02000503020000020003" pitchFamily="2" charset="0"/>
              </a:rPr>
              <a:t> Building weights):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D83CC8-F12D-1DA2-DD7C-CCBDDB175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1600200"/>
            <a:ext cx="4114800" cy="239931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354577F-2841-FE0D-89F8-629D8C7B6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1524000"/>
            <a:ext cx="4152014" cy="205214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BF96A44-89A0-F6E5-270A-A46894A438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24000"/>
            <a:ext cx="3971928" cy="205740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36B8FC8-A7A5-D676-F962-E76195F51C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92" y="4419819"/>
            <a:ext cx="3947583" cy="204479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2A8244F-24E7-66DA-B1ED-B16C3BEB95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2400" y="4343619"/>
            <a:ext cx="4114800" cy="243818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CCEC1F5-3923-8F19-10C2-4B16C1BD79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7200" y="4388069"/>
            <a:ext cx="4038600" cy="2019300"/>
          </a:xfrm>
          <a:prstGeom prst="rect">
            <a:avLst/>
          </a:prstGeom>
        </p:spPr>
      </p:pic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B6FAF4CB-6CF7-6F4C-530F-2325696BAB93}"/>
              </a:ext>
            </a:extLst>
          </p:cNvPr>
          <p:cNvSpPr txBox="1">
            <a:spLocks/>
          </p:cNvSpPr>
          <p:nvPr/>
        </p:nvSpPr>
        <p:spPr>
          <a:xfrm>
            <a:off x="462393" y="3886200"/>
            <a:ext cx="11729607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 err="1">
                <a:latin typeface="Avenir Book" panose="02000503020000020003" pitchFamily="2" charset="0"/>
              </a:rPr>
              <a:t>ResStock</a:t>
            </a:r>
            <a:r>
              <a:rPr lang="en-US" sz="2100" dirty="0">
                <a:latin typeface="Avenir Book" panose="02000503020000020003" pitchFamily="2" charset="0"/>
              </a:rPr>
              <a:t> (2025) MD Sampled EV ownership rates by segment (apply </a:t>
            </a:r>
            <a:r>
              <a:rPr lang="en-US" sz="2100" dirty="0" err="1">
                <a:latin typeface="Avenir Book" panose="02000503020000020003" pitchFamily="2" charset="0"/>
              </a:rPr>
              <a:t>ResStock</a:t>
            </a:r>
            <a:r>
              <a:rPr lang="en-US" sz="2100" dirty="0">
                <a:latin typeface="Avenir Book" panose="02000503020000020003" pitchFamily="2" charset="0"/>
              </a:rPr>
              <a:t> Building weights):</a:t>
            </a:r>
          </a:p>
        </p:txBody>
      </p:sp>
    </p:spTree>
    <p:extLst>
      <p:ext uri="{BB962C8B-B14F-4D97-AF65-F5344CB8AC3E}">
        <p14:creationId xmlns:p14="http://schemas.microsoft.com/office/powerpoint/2010/main" val="147227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1361D-8AC1-7A2D-FBE5-B8755F23E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E2AB6-1002-5EE4-A8D4-A91C3183A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Step 2: Assign Driving Profiles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ABD1A06-C1A5-2D7F-655A-588CB0C5574E}"/>
              </a:ext>
            </a:extLst>
          </p:cNvPr>
          <p:cNvSpPr txBox="1">
            <a:spLocks/>
          </p:cNvSpPr>
          <p:nvPr/>
        </p:nvSpPr>
        <p:spPr>
          <a:xfrm>
            <a:off x="805149" y="1219200"/>
            <a:ext cx="9862851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Participants in </a:t>
            </a:r>
            <a:r>
              <a:rPr lang="en-US" sz="2100" b="1" dirty="0">
                <a:solidFill>
                  <a:schemeClr val="accent6">
                    <a:lumMod val="75000"/>
                  </a:schemeClr>
                </a:solidFill>
                <a:latin typeface="Avenir Book" panose="02000503020000020003" pitchFamily="2" charset="0"/>
              </a:rPr>
              <a:t>NHTS (2022)</a:t>
            </a:r>
            <a:r>
              <a:rPr lang="en-US" sz="2100" dirty="0">
                <a:latin typeface="Avenir Book" panose="02000503020000020003" pitchFamily="2" charset="0"/>
              </a:rPr>
              <a:t> logged all their trips over a 24-hour period: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375EE30-3F28-FC3F-7A96-5DEFB5DF9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828800"/>
            <a:ext cx="3657600" cy="1679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b="1" dirty="0">
                <a:latin typeface="Avenir Book" panose="02000503020000020003" pitchFamily="2" charset="0"/>
              </a:rPr>
              <a:t>Each trip log includes: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Start time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End time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Miles traveled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4938059-6DCD-5F01-AAFD-B4AA7FD15C63}"/>
              </a:ext>
            </a:extLst>
          </p:cNvPr>
          <p:cNvSpPr/>
          <p:nvPr/>
        </p:nvSpPr>
        <p:spPr>
          <a:xfrm>
            <a:off x="914400" y="1755775"/>
            <a:ext cx="3733800" cy="1828800"/>
          </a:xfrm>
          <a:prstGeom prst="roundRect">
            <a:avLst>
              <a:gd name="adj" fmla="val 62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EDE97D-A203-4F50-C2E5-65608A9F69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655649"/>
              </p:ext>
            </p:extLst>
          </p:nvPr>
        </p:nvGraphicFramePr>
        <p:xfrm>
          <a:off x="892364" y="4324854"/>
          <a:ext cx="10994835" cy="228820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12636">
                  <a:extLst>
                    <a:ext uri="{9D8B030D-6E8A-4147-A177-3AD203B41FA5}">
                      <a16:colId xmlns:a16="http://schemas.microsoft.com/office/drawing/2014/main" val="93384851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90151445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409580383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99968424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531458557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622128750"/>
                    </a:ext>
                  </a:extLst>
                </a:gridCol>
                <a:gridCol w="3124199">
                  <a:extLst>
                    <a:ext uri="{9D8B030D-6E8A-4147-A177-3AD203B41FA5}">
                      <a16:colId xmlns:a16="http://schemas.microsoft.com/office/drawing/2014/main" val="667156954"/>
                    </a:ext>
                  </a:extLst>
                </a:gridCol>
              </a:tblGrid>
              <a:tr h="504022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venir Book" panose="02000503020000020003" pitchFamily="2" charset="0"/>
                        </a:rPr>
                        <a:t>bldg_id</a:t>
                      </a:r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urban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occupants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venir Book" panose="02000503020000020003" pitchFamily="2" charset="0"/>
                        </a:rPr>
                        <a:t>weekday_vehicle_profile</a:t>
                      </a:r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venir Book" panose="02000503020000020003" pitchFamily="2" charset="0"/>
                        </a:rPr>
                        <a:t>weekend_vehicle_profile</a:t>
                      </a:r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567463"/>
                  </a:ext>
                </a:extLst>
              </a:tr>
              <a:tr h="504022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3870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75k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(8,9,7.44), (17,18,6.97)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(8,9,1.46), (12,13,1.46), (15,16,4.24), (16,17,4.18)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984255"/>
                  </a:ext>
                </a:extLst>
              </a:tr>
              <a:tr h="504022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14133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90k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(6,7,31.95), (15,16,29.10)</a:t>
                      </a:r>
                    </a:p>
                  </a:txBody>
                  <a:tcPr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(4,5,3.00), (17,18,2.77)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614957"/>
                  </a:ext>
                </a:extLst>
              </a:tr>
              <a:tr h="504022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22397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300k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(8,9,5.14), (18,19,4.94)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(10,11,19.56), (11,12,10.89), (12,13,0.87)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0291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FFEBD6E-A8FA-C890-607C-88F5F03BD35D}"/>
              </a:ext>
            </a:extLst>
          </p:cNvPr>
          <p:cNvSpPr txBox="1">
            <a:spLocks/>
          </p:cNvSpPr>
          <p:nvPr/>
        </p:nvSpPr>
        <p:spPr>
          <a:xfrm>
            <a:off x="817085" y="3903462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ResStock</a:t>
            </a:r>
            <a:r>
              <a:rPr lang="en-US" sz="21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 (2024) </a:t>
            </a:r>
            <a:r>
              <a:rPr lang="en-US" sz="2100" dirty="0" err="1">
                <a:latin typeface="Avenir Book" panose="02000503020000020003" pitchFamily="2" charset="0"/>
              </a:rPr>
              <a:t>metadata_df</a:t>
            </a:r>
            <a:r>
              <a:rPr lang="en-US" sz="2100" dirty="0">
                <a:latin typeface="Avenir Book" panose="02000503020000020003" pitchFamily="2" charset="0"/>
              </a:rPr>
              <a:t>:</a:t>
            </a:r>
          </a:p>
        </p:txBody>
      </p:sp>
      <p:sp>
        <p:nvSpPr>
          <p:cNvPr id="6" name="Bent Arrow 5">
            <a:extLst>
              <a:ext uri="{FF2B5EF4-FFF2-40B4-BE49-F238E27FC236}">
                <a16:creationId xmlns:a16="http://schemas.microsoft.com/office/drawing/2014/main" id="{B671825D-55FE-858D-1155-535933FCEE82}"/>
              </a:ext>
            </a:extLst>
          </p:cNvPr>
          <p:cNvSpPr/>
          <p:nvPr/>
        </p:nvSpPr>
        <p:spPr>
          <a:xfrm rot="2787914">
            <a:off x="5368175" y="3626157"/>
            <a:ext cx="1018776" cy="1106198"/>
          </a:xfrm>
          <a:prstGeom prst="bentArrow">
            <a:avLst>
              <a:gd name="adj1" fmla="val 13064"/>
              <a:gd name="adj2" fmla="val 17005"/>
              <a:gd name="adj3" fmla="val 26362"/>
              <a:gd name="adj4" fmla="val 43750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AFD8E33-13F9-F85E-80B0-4E60D4872744}"/>
              </a:ext>
            </a:extLst>
          </p:cNvPr>
          <p:cNvSpPr txBox="1">
            <a:spLocks/>
          </p:cNvSpPr>
          <p:nvPr/>
        </p:nvSpPr>
        <p:spPr>
          <a:xfrm>
            <a:off x="5257801" y="1828800"/>
            <a:ext cx="6400800" cy="178473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100" b="1" dirty="0">
                <a:latin typeface="Avenir Book" panose="02000503020000020003" pitchFamily="2" charset="0"/>
              </a:rPr>
              <a:t>Match EV owners to NHTS weekday and weekend daily trip logs based on: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Urban/rural status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Income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Number of occupants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ACD6848-CA90-69C4-9A88-850F3E5DAA39}"/>
              </a:ext>
            </a:extLst>
          </p:cNvPr>
          <p:cNvSpPr/>
          <p:nvPr/>
        </p:nvSpPr>
        <p:spPr>
          <a:xfrm>
            <a:off x="5181600" y="1752600"/>
            <a:ext cx="6705600" cy="1828800"/>
          </a:xfrm>
          <a:prstGeom prst="roundRect">
            <a:avLst>
              <a:gd name="adj" fmla="val 62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44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 build="p"/>
      <p:bldP spid="16" grpId="0" animBg="1"/>
      <p:bldP spid="5" grpId="0"/>
      <p:bldP spid="6" grpId="0" animBg="1"/>
      <p:bldP spid="7" grpId="0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18BF4-D2AD-527D-A2C0-DD0FC8994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33DD1-BF0C-D64B-89C3-B73F0C72B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Step 2: Assign Driving Profiles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E86F6F6-7B2B-2D68-C2BA-1E4C009E2DB1}"/>
              </a:ext>
            </a:extLst>
          </p:cNvPr>
          <p:cNvSpPr txBox="1">
            <a:spLocks/>
          </p:cNvSpPr>
          <p:nvPr/>
        </p:nvSpPr>
        <p:spPr>
          <a:xfrm>
            <a:off x="1121671" y="1752600"/>
            <a:ext cx="3145528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Weekday match tiers: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AA24850-712D-7318-88ED-41FC51BBEC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874664"/>
              </p:ext>
            </p:extLst>
          </p:nvPr>
        </p:nvGraphicFramePr>
        <p:xfrm>
          <a:off x="1176213" y="2120574"/>
          <a:ext cx="2915138" cy="165143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57569">
                  <a:extLst>
                    <a:ext uri="{9D8B030D-6E8A-4147-A177-3AD203B41FA5}">
                      <a16:colId xmlns:a16="http://schemas.microsoft.com/office/drawing/2014/main" val="1619695056"/>
                    </a:ext>
                  </a:extLst>
                </a:gridCol>
                <a:gridCol w="1457569">
                  <a:extLst>
                    <a:ext uri="{9D8B030D-6E8A-4147-A177-3AD203B41FA5}">
                      <a16:colId xmlns:a16="http://schemas.microsoft.com/office/drawing/2014/main" val="830905831"/>
                    </a:ext>
                  </a:extLst>
                </a:gridCol>
              </a:tblGrid>
              <a:tr h="737035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venir Book" panose="02000503020000020003" pitchFamily="2" charset="0"/>
                        </a:rPr>
                        <a:t>Urban + Income + Occupants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venir Book" panose="02000503020000020003" pitchFamily="2" charset="0"/>
                        </a:rPr>
                        <a:t>172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168952"/>
                  </a:ext>
                </a:extLst>
              </a:tr>
              <a:tr h="737035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Urban + Income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944478"/>
                  </a:ext>
                </a:extLst>
              </a:tr>
            </a:tbl>
          </a:graphicData>
        </a:graphic>
      </p:graphicFrame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0433471-6CCF-DE44-D3D2-EB81D9A4BF5A}"/>
              </a:ext>
            </a:extLst>
          </p:cNvPr>
          <p:cNvSpPr txBox="1">
            <a:spLocks/>
          </p:cNvSpPr>
          <p:nvPr/>
        </p:nvSpPr>
        <p:spPr>
          <a:xfrm>
            <a:off x="1121672" y="4032740"/>
            <a:ext cx="3145528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Weekend match tiers: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E6C65B9-CC11-EF5A-D04F-FBDEC5CA0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316307"/>
              </p:ext>
            </p:extLst>
          </p:nvPr>
        </p:nvGraphicFramePr>
        <p:xfrm>
          <a:off x="1176214" y="4400714"/>
          <a:ext cx="2915138" cy="165143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57569">
                  <a:extLst>
                    <a:ext uri="{9D8B030D-6E8A-4147-A177-3AD203B41FA5}">
                      <a16:colId xmlns:a16="http://schemas.microsoft.com/office/drawing/2014/main" val="1619695056"/>
                    </a:ext>
                  </a:extLst>
                </a:gridCol>
                <a:gridCol w="1457569">
                  <a:extLst>
                    <a:ext uri="{9D8B030D-6E8A-4147-A177-3AD203B41FA5}">
                      <a16:colId xmlns:a16="http://schemas.microsoft.com/office/drawing/2014/main" val="830905831"/>
                    </a:ext>
                  </a:extLst>
                </a:gridCol>
              </a:tblGrid>
              <a:tr h="737035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venir Book" panose="02000503020000020003" pitchFamily="2" charset="0"/>
                        </a:rPr>
                        <a:t>Urban + Income + Occupants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venir Book" panose="02000503020000020003" pitchFamily="2" charset="0"/>
                        </a:rPr>
                        <a:t>157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168952"/>
                  </a:ext>
                </a:extLst>
              </a:tr>
              <a:tr h="737035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Urban + Income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21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944478"/>
                  </a:ext>
                </a:extLst>
              </a:tr>
            </a:tbl>
          </a:graphicData>
        </a:graphic>
      </p:graphicFrame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00C06F3-8242-4352-943C-6908AF98ACAD}"/>
              </a:ext>
            </a:extLst>
          </p:cNvPr>
          <p:cNvSpPr txBox="1">
            <a:spLocks/>
          </p:cNvSpPr>
          <p:nvPr/>
        </p:nvSpPr>
        <p:spPr>
          <a:xfrm>
            <a:off x="4038600" y="1219200"/>
            <a:ext cx="81534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Daily miles of matched vehicle profiles to </a:t>
            </a:r>
            <a:r>
              <a:rPr lang="en-US" sz="2100" dirty="0" err="1">
                <a:latin typeface="Avenir Book" panose="02000503020000020003" pitchFamily="2" charset="0"/>
              </a:rPr>
              <a:t>ResStock</a:t>
            </a:r>
            <a:r>
              <a:rPr lang="en-US" sz="2100" dirty="0">
                <a:latin typeface="Avenir Book" panose="02000503020000020003" pitchFamily="2" charset="0"/>
              </a:rPr>
              <a:t> (2024) MD EVs: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2EC4026-9B48-AC02-1782-428094B92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1676400"/>
            <a:ext cx="5181600" cy="170103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88768A7-77BD-1AD1-A377-AAC08C47D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3328170"/>
            <a:ext cx="5181600" cy="170103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EC8CAC5-A6D5-C810-E0CB-72455A2AE6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0200" y="5080769"/>
            <a:ext cx="5181600" cy="170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678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7889C-1BBD-AF19-5B2D-5D356E01A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3C68A-1496-72B9-93B7-9DF204D32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Step 3: Simulate Annual Travel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4C4E019-8B73-AEE0-A631-6DA64AB7A2A3}"/>
              </a:ext>
            </a:extLst>
          </p:cNvPr>
          <p:cNvSpPr txBox="1">
            <a:spLocks/>
          </p:cNvSpPr>
          <p:nvPr/>
        </p:nvSpPr>
        <p:spPr>
          <a:xfrm>
            <a:off x="805149" y="1219200"/>
            <a:ext cx="11386851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Generate an annual trip profile by stitching together random realizations from vehicle profiles.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52F374F-3C53-CE6D-68D5-25C3EA4164D2}"/>
              </a:ext>
            </a:extLst>
          </p:cNvPr>
          <p:cNvCxnSpPr/>
          <p:nvPr/>
        </p:nvCxnSpPr>
        <p:spPr>
          <a:xfrm>
            <a:off x="990600" y="2514600"/>
            <a:ext cx="990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4E9207-BF13-6699-EB07-E0439310F76A}"/>
              </a:ext>
            </a:extLst>
          </p:cNvPr>
          <p:cNvCxnSpPr/>
          <p:nvPr/>
        </p:nvCxnSpPr>
        <p:spPr>
          <a:xfrm>
            <a:off x="990600" y="2286000"/>
            <a:ext cx="0" cy="45720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52A82D2-6633-7D1F-BF3D-374F2E4132DE}"/>
              </a:ext>
            </a:extLst>
          </p:cNvPr>
          <p:cNvSpPr txBox="1">
            <a:spLocks/>
          </p:cNvSpPr>
          <p:nvPr/>
        </p:nvSpPr>
        <p:spPr>
          <a:xfrm>
            <a:off x="838200" y="2819400"/>
            <a:ext cx="85344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Monday, Jan 1, 2024: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A8DF9B0-0EB8-B59B-F243-D5E0E6F58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3273425"/>
            <a:ext cx="4953000" cy="2441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Trip 1: 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Draw random departure and arrival offsets from: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A915A4F-4A1E-D576-9564-29CC02242BCE}"/>
              </a:ext>
            </a:extLst>
          </p:cNvPr>
          <p:cNvSpPr/>
          <p:nvPr/>
        </p:nvSpPr>
        <p:spPr>
          <a:xfrm>
            <a:off x="914399" y="3200400"/>
            <a:ext cx="11031415" cy="2614246"/>
          </a:xfrm>
          <a:prstGeom prst="roundRect">
            <a:avLst>
              <a:gd name="adj" fmla="val 62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B482B76-3303-876F-8C52-87F3B77C6F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495440"/>
              </p:ext>
            </p:extLst>
          </p:nvPr>
        </p:nvGraphicFramePr>
        <p:xfrm>
          <a:off x="1295400" y="4419600"/>
          <a:ext cx="4343400" cy="9906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1403558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196380375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1939291869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215823997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3061134764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venir Book" panose="02000503020000020003" pitchFamily="2" charset="0"/>
                        </a:rPr>
                        <a:t>-2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venir Book" panose="02000503020000020003" pitchFamily="2" charset="0"/>
                        </a:rPr>
                        <a:t>-1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venir Book" panose="02000503020000020003" pitchFamily="2" charset="0"/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213425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venir Book" panose="02000503020000020003" pitchFamily="2" charset="0"/>
                        </a:rPr>
                        <a:t>0.05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venir Book" panose="02000503020000020003" pitchFamily="2" charset="0"/>
                        </a:rPr>
                        <a:t>0.10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venir Book" panose="02000503020000020003" pitchFamily="2" charset="0"/>
                        </a:rPr>
                        <a:t>0.70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venir Book" panose="02000503020000020003" pitchFamily="2" charset="0"/>
                        </a:rPr>
                        <a:t>0.10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venir Book" panose="02000503020000020003" pitchFamily="2" charset="0"/>
                        </a:rPr>
                        <a:t>0.05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455390"/>
                  </a:ext>
                </a:extLst>
              </a:tr>
            </a:tbl>
          </a:graphicData>
        </a:graphic>
      </p:graphicFrame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C05239E-C363-411C-2B08-AC2B713607F7}"/>
              </a:ext>
            </a:extLst>
          </p:cNvPr>
          <p:cNvSpPr txBox="1">
            <a:spLocks/>
          </p:cNvSpPr>
          <p:nvPr/>
        </p:nvSpPr>
        <p:spPr>
          <a:xfrm>
            <a:off x="5943600" y="3276601"/>
            <a:ext cx="4953000" cy="106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100" dirty="0">
              <a:latin typeface="Avenir Book" panose="02000503020000020003" pitchFamily="2" charset="0"/>
            </a:endParaRPr>
          </a:p>
          <a:p>
            <a:r>
              <a:rPr lang="en-US" sz="2100" dirty="0">
                <a:latin typeface="Avenir Book" panose="02000503020000020003" pitchFamily="2" charset="0"/>
              </a:rPr>
              <a:t>Draw miles traveled from: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263121D-68B3-9737-0F27-103A874D22AB}"/>
              </a:ext>
            </a:extLst>
          </p:cNvPr>
          <p:cNvSpPr txBox="1">
            <a:spLocks/>
          </p:cNvSpPr>
          <p:nvPr/>
        </p:nvSpPr>
        <p:spPr>
          <a:xfrm>
            <a:off x="838200" y="1752600"/>
            <a:ext cx="102108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bldg_id</a:t>
            </a:r>
            <a:r>
              <a:rPr lang="en-US" sz="21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=3870 in </a:t>
            </a:r>
            <a:r>
              <a:rPr lang="en-US" sz="21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ResStock</a:t>
            </a:r>
            <a:r>
              <a:rPr lang="en-US" sz="21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 (2024):</a:t>
            </a:r>
            <a:r>
              <a:rPr lang="en-US" sz="2100" dirty="0">
                <a:latin typeface="Avenir Book" panose="02000503020000020003" pitchFamily="2" charset="0"/>
              </a:rPr>
              <a:t> weekday vehicle profile is (8,9,7.44), (17,18,6.97)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4C052D38-FFE9-173F-02BE-F4BA9CAC1E53}"/>
              </a:ext>
            </a:extLst>
          </p:cNvPr>
          <p:cNvSpPr txBox="1">
            <a:spLocks/>
          </p:cNvSpPr>
          <p:nvPr/>
        </p:nvSpPr>
        <p:spPr>
          <a:xfrm>
            <a:off x="9202615" y="4278923"/>
            <a:ext cx="2514600" cy="60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100" b="1" dirty="0">
                <a:solidFill>
                  <a:srgbClr val="3B7D23"/>
                </a:solidFill>
                <a:latin typeface="Avenir Book" panose="02000503020000020003" pitchFamily="2" charset="0"/>
              </a:rPr>
              <a:t>~N(7.44, (0.744)^2)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E3638A5-8040-F5A9-D9E3-51797C305089}"/>
              </a:ext>
            </a:extLst>
          </p:cNvPr>
          <p:cNvSpPr txBox="1">
            <a:spLocks/>
          </p:cNvSpPr>
          <p:nvPr/>
        </p:nvSpPr>
        <p:spPr>
          <a:xfrm>
            <a:off x="838200" y="6019800"/>
            <a:ext cx="81534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Repeat to get an annual travel schedule!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6F0709E-A108-8A9F-58E3-4B9F0E7EDF5E}"/>
              </a:ext>
            </a:extLst>
          </p:cNvPr>
          <p:cNvCxnSpPr/>
          <p:nvPr/>
        </p:nvCxnSpPr>
        <p:spPr>
          <a:xfrm>
            <a:off x="3733800" y="2286000"/>
            <a:ext cx="0" cy="45720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A562A06-8E68-F8C2-F85D-D11500A156F8}"/>
              </a:ext>
            </a:extLst>
          </p:cNvPr>
          <p:cNvCxnSpPr/>
          <p:nvPr/>
        </p:nvCxnSpPr>
        <p:spPr>
          <a:xfrm>
            <a:off x="6477000" y="2286000"/>
            <a:ext cx="0" cy="45720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05E6693-A5CB-CFC4-EDBA-7EEBBF003CA7}"/>
              </a:ext>
            </a:extLst>
          </p:cNvPr>
          <p:cNvCxnSpPr/>
          <p:nvPr/>
        </p:nvCxnSpPr>
        <p:spPr>
          <a:xfrm>
            <a:off x="9220200" y="2286000"/>
            <a:ext cx="0" cy="45720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A3B5C5FD-8988-802E-3E88-74C40C5DF7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154"/>
          <a:stretch>
            <a:fillRect/>
          </a:stretch>
        </p:blipFill>
        <p:spPr>
          <a:xfrm>
            <a:off x="6166827" y="4135247"/>
            <a:ext cx="3117850" cy="162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366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A4392-9EE0-535C-B8EF-CECFB453C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1893F-5A69-B93C-9126-96729BECD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Step 3: Simulate Annual Travel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65DCE7-A942-14DF-CBF9-A872C13846A7}"/>
              </a:ext>
            </a:extLst>
          </p:cNvPr>
          <p:cNvSpPr txBox="1">
            <a:spLocks/>
          </p:cNvSpPr>
          <p:nvPr/>
        </p:nvSpPr>
        <p:spPr>
          <a:xfrm>
            <a:off x="805149" y="1143000"/>
            <a:ext cx="9024651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Summary of </a:t>
            </a:r>
            <a:r>
              <a:rPr lang="en-US" sz="2100" dirty="0" err="1">
                <a:latin typeface="Avenir Book" panose="02000503020000020003" pitchFamily="2" charset="0"/>
              </a:rPr>
              <a:t>ResStock</a:t>
            </a:r>
            <a:r>
              <a:rPr lang="en-US" sz="2100" dirty="0">
                <a:latin typeface="Avenir Book" panose="02000503020000020003" pitchFamily="2" charset="0"/>
              </a:rPr>
              <a:t> (2024) MD simulated annual travel profiles: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DFB6D2-238B-51D1-8DC0-8462A80CDF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402"/>
          <a:stretch>
            <a:fillRect/>
          </a:stretch>
        </p:blipFill>
        <p:spPr>
          <a:xfrm>
            <a:off x="1752599" y="1447800"/>
            <a:ext cx="8073453" cy="29489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A45C3B-90E7-84AB-7E41-09A496333F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4234850"/>
            <a:ext cx="8202345" cy="263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660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5C67E-FF4D-8CAB-33FA-25BC67F07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A390E-7452-D15C-E156-793B682F8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Step 3: Simulate Annual Travel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F5562FD-C07F-D51F-72D8-8643971B460F}"/>
              </a:ext>
            </a:extLst>
          </p:cNvPr>
          <p:cNvSpPr txBox="1">
            <a:spLocks/>
          </p:cNvSpPr>
          <p:nvPr/>
        </p:nvSpPr>
        <p:spPr>
          <a:xfrm>
            <a:off x="805149" y="1143000"/>
            <a:ext cx="8948451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Summary of </a:t>
            </a:r>
            <a:r>
              <a:rPr lang="en-US" sz="2100" dirty="0" err="1">
                <a:latin typeface="Avenir Book" panose="02000503020000020003" pitchFamily="2" charset="0"/>
              </a:rPr>
              <a:t>ResStock</a:t>
            </a:r>
            <a:r>
              <a:rPr lang="en-US" sz="2100" dirty="0">
                <a:latin typeface="Avenir Book" panose="02000503020000020003" pitchFamily="2" charset="0"/>
              </a:rPr>
              <a:t> (2025) MD simulated annual travel profiles: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5F3FCD-7F41-7332-6636-64DBEA5DB1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372"/>
          <a:stretch>
            <a:fillRect/>
          </a:stretch>
        </p:blipFill>
        <p:spPr>
          <a:xfrm>
            <a:off x="1828800" y="1447800"/>
            <a:ext cx="7772400" cy="284476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314E4F-37BA-1683-7454-CFA07F6DBF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4267200"/>
            <a:ext cx="807447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103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CB2D5-DFA6-BD94-EE48-9470F03BE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7E006-0F77-92BA-491F-155043C95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Step 4: Assign Vehicle Characteristics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CA9194E-020B-138D-A507-CE9C16DD2ED6}"/>
              </a:ext>
            </a:extLst>
          </p:cNvPr>
          <p:cNvSpPr txBox="1">
            <a:spLocks/>
          </p:cNvSpPr>
          <p:nvPr/>
        </p:nvSpPr>
        <p:spPr>
          <a:xfrm>
            <a:off x="805149" y="1219200"/>
            <a:ext cx="4909851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 dirty="0" err="1">
                <a:solidFill>
                  <a:schemeClr val="accent6">
                    <a:lumMod val="75000"/>
                  </a:schemeClr>
                </a:solidFill>
                <a:latin typeface="Avenir Book" panose="02000503020000020003" pitchFamily="2" charset="0"/>
              </a:rPr>
              <a:t>ResStock</a:t>
            </a:r>
            <a:r>
              <a:rPr lang="en-US" sz="2100" b="1" dirty="0">
                <a:solidFill>
                  <a:schemeClr val="accent6">
                    <a:lumMod val="75000"/>
                  </a:schemeClr>
                </a:solidFill>
                <a:latin typeface="Avenir Book" panose="02000503020000020003" pitchFamily="2" charset="0"/>
              </a:rPr>
              <a:t> (2025)</a:t>
            </a:r>
            <a:r>
              <a:rPr lang="en-US" sz="2100" dirty="0">
                <a:latin typeface="Avenir Book" panose="02000503020000020003" pitchFamily="2" charset="0"/>
              </a:rPr>
              <a:t> allows for 7 EV types: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99FC94C-A583-991B-BDDA-D3BE5CDE2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825626"/>
            <a:ext cx="4191000" cy="21367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b="1" dirty="0">
                <a:latin typeface="Avenir Book" panose="02000503020000020003" pitchFamily="2" charset="0"/>
              </a:rPr>
              <a:t>EV Types: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Compact (200 or 300 mi range)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Midsize (200 or 300 mi range)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SUV (200 or 300 mi range)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Pickup (300 mi range)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21F5FE1-05A7-95E1-7215-F05D972804F8}"/>
              </a:ext>
            </a:extLst>
          </p:cNvPr>
          <p:cNvSpPr/>
          <p:nvPr/>
        </p:nvSpPr>
        <p:spPr>
          <a:xfrm>
            <a:off x="914400" y="1676400"/>
            <a:ext cx="4267200" cy="2282825"/>
          </a:xfrm>
          <a:prstGeom prst="roundRect">
            <a:avLst>
              <a:gd name="adj" fmla="val 62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D90AD60D-8C9E-A759-AF46-43BA8EE98081}"/>
              </a:ext>
            </a:extLst>
          </p:cNvPr>
          <p:cNvSpPr/>
          <p:nvPr/>
        </p:nvSpPr>
        <p:spPr>
          <a:xfrm>
            <a:off x="5791200" y="2511426"/>
            <a:ext cx="914400" cy="304800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F451D89-1B04-CD2F-84BE-9FC46B3FB35E}"/>
              </a:ext>
            </a:extLst>
          </p:cNvPr>
          <p:cNvSpPr txBox="1">
            <a:spLocks/>
          </p:cNvSpPr>
          <p:nvPr/>
        </p:nvSpPr>
        <p:spPr>
          <a:xfrm>
            <a:off x="7391400" y="2479294"/>
            <a:ext cx="26670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P(EV type | own EV)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609E07A-A178-9A08-5889-49E1CC4FDB3C}"/>
              </a:ext>
            </a:extLst>
          </p:cNvPr>
          <p:cNvSpPr/>
          <p:nvPr/>
        </p:nvSpPr>
        <p:spPr>
          <a:xfrm>
            <a:off x="7205949" y="2325975"/>
            <a:ext cx="2852451" cy="685800"/>
          </a:xfrm>
          <a:prstGeom prst="roundRect">
            <a:avLst>
              <a:gd name="adj" fmla="val 2067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8466BE-9A01-DEC5-614B-4EBC9BD86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577176"/>
              </p:ext>
            </p:extLst>
          </p:nvPr>
        </p:nvGraphicFramePr>
        <p:xfrm>
          <a:off x="914400" y="4495800"/>
          <a:ext cx="10439400" cy="20574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739900">
                  <a:extLst>
                    <a:ext uri="{9D8B030D-6E8A-4147-A177-3AD203B41FA5}">
                      <a16:colId xmlns:a16="http://schemas.microsoft.com/office/drawing/2014/main" val="1320111423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4282187139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3441270175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63205259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23863586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721643489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venir Book" panose="02000503020000020003" pitchFamily="2" charset="0"/>
                        </a:rPr>
                        <a:t>bldg_id</a:t>
                      </a:r>
                      <a:endParaRPr lang="en-US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max daily miles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EV option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capacity (kWh)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kWh/mi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86345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3870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17.7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SUV (300 mi)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83.68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0.2789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053788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14133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71.6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Compact (200 mi)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40.17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0.2099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934379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22397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35.8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SUV (300 mi)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83.68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0.2789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058521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8434C8E-05C0-E494-5D38-5E4FB295E160}"/>
              </a:ext>
            </a:extLst>
          </p:cNvPr>
          <p:cNvSpPr txBox="1">
            <a:spLocks/>
          </p:cNvSpPr>
          <p:nvPr/>
        </p:nvSpPr>
        <p:spPr>
          <a:xfrm>
            <a:off x="838200" y="4114800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ResStock</a:t>
            </a:r>
            <a:r>
              <a:rPr lang="en-US" sz="21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 (2024) </a:t>
            </a:r>
            <a:r>
              <a:rPr lang="en-US" sz="2100" dirty="0" err="1">
                <a:latin typeface="Avenir Book" panose="02000503020000020003" pitchFamily="2" charset="0"/>
              </a:rPr>
              <a:t>metadata_df</a:t>
            </a:r>
            <a:r>
              <a:rPr lang="en-US" sz="2100" dirty="0">
                <a:latin typeface="Avenir Book" panose="02000503020000020003" pitchFamily="2" charset="0"/>
              </a:rPr>
              <a:t>: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DA60CFB-DABD-F47C-BDBA-EC9F18D8F66B}"/>
              </a:ext>
            </a:extLst>
          </p:cNvPr>
          <p:cNvSpPr txBox="1">
            <a:spLocks/>
          </p:cNvSpPr>
          <p:nvPr/>
        </p:nvSpPr>
        <p:spPr>
          <a:xfrm>
            <a:off x="5334000" y="3810000"/>
            <a:ext cx="6477000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Draw EV type from distribution of vehicle types that can cover max daily miles + 20% buffer.</a:t>
            </a:r>
          </a:p>
        </p:txBody>
      </p:sp>
    </p:spTree>
    <p:extLst>
      <p:ext uri="{BB962C8B-B14F-4D97-AF65-F5344CB8AC3E}">
        <p14:creationId xmlns:p14="http://schemas.microsoft.com/office/powerpoint/2010/main" val="1130890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 build="p"/>
      <p:bldP spid="16" grpId="0" animBg="1"/>
      <p:bldP spid="3" grpId="0" animBg="1"/>
      <p:bldP spid="4" grpId="0"/>
      <p:bldP spid="5" grpId="0" animBg="1"/>
      <p:bldP spid="7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DA0FB-44B2-4C24-D081-7AD8CC97A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2354-4118-F328-1991-414338A8A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Step 4: Assign Vehicle Characteristics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52A2C6D-B0F4-4AFF-115C-9B844587B557}"/>
              </a:ext>
            </a:extLst>
          </p:cNvPr>
          <p:cNvSpPr txBox="1">
            <a:spLocks/>
          </p:cNvSpPr>
          <p:nvPr/>
        </p:nvSpPr>
        <p:spPr>
          <a:xfrm>
            <a:off x="1143000" y="1524000"/>
            <a:ext cx="58674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EV Types in </a:t>
            </a:r>
            <a:r>
              <a:rPr lang="en-US" sz="2100" dirty="0" err="1">
                <a:latin typeface="Avenir Book" panose="02000503020000020003" pitchFamily="2" charset="0"/>
              </a:rPr>
              <a:t>ResStock</a:t>
            </a:r>
            <a:r>
              <a:rPr lang="en-US" sz="2100" dirty="0">
                <a:latin typeface="Avenir Book" panose="02000503020000020003" pitchFamily="2" charset="0"/>
              </a:rPr>
              <a:t> (2024) MD Sample: 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BD2526-20D3-641A-B715-40662A5018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52" r="50383" b="45851"/>
          <a:stretch>
            <a:fillRect/>
          </a:stretch>
        </p:blipFill>
        <p:spPr>
          <a:xfrm>
            <a:off x="914400" y="1981200"/>
            <a:ext cx="5105400" cy="3705413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A474A2B-EC6D-5CC7-5F01-A0B9F2D258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249268"/>
              </p:ext>
            </p:extLst>
          </p:nvPr>
        </p:nvGraphicFramePr>
        <p:xfrm>
          <a:off x="6629400" y="2057400"/>
          <a:ext cx="4876800" cy="3238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82474997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76301840"/>
                    </a:ext>
                  </a:extLst>
                </a:gridCol>
              </a:tblGrid>
              <a:tr h="647700">
                <a:tc gridSpan="2"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Headroom (miles) = battery capacity (kWh) / efficiency (kWh/mi) – max daily miles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28213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Mean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219.78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37151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Standard Deviation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53.41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507015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Minimum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92.65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544107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Maximum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292.05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039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2322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EE641-C446-C444-1C39-68FE6DA78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06DA8-F5C8-152E-CA66-98D34C1FF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Assumptions in Steps 2-4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E257B-CC49-42CD-42A5-AC4E8F8B613C}"/>
              </a:ext>
            </a:extLst>
          </p:cNvPr>
          <p:cNvSpPr txBox="1">
            <a:spLocks/>
          </p:cNvSpPr>
          <p:nvPr/>
        </p:nvSpPr>
        <p:spPr>
          <a:xfrm>
            <a:off x="914400" y="1523999"/>
            <a:ext cx="9448800" cy="4800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100" b="1" dirty="0">
                <a:latin typeface="Avenir Book" panose="02000503020000020003" pitchFamily="2" charset="0"/>
              </a:rPr>
              <a:t>Assumptions: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One-to-one correspondence between NHTS participant travel schedule and vehicle trip profile.</a:t>
            </a:r>
          </a:p>
          <a:p>
            <a:pPr lvl="1"/>
            <a:r>
              <a:rPr lang="en-US" sz="1800" dirty="0">
                <a:latin typeface="Avenir Book" panose="02000503020000020003" pitchFamily="2" charset="0"/>
              </a:rPr>
              <a:t>NHTS surveys are filtered to consider one person’s trips in one vehicle.</a:t>
            </a:r>
          </a:p>
          <a:p>
            <a:pPr lvl="1"/>
            <a:r>
              <a:rPr lang="en-US" sz="1800" dirty="0">
                <a:latin typeface="Avenir Book" panose="02000503020000020003" pitchFamily="2" charset="0"/>
              </a:rPr>
              <a:t>Assumption: each EV is only driven by one owner.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Urban/rural flags in NHTS profiles are matched to </a:t>
            </a:r>
            <a:r>
              <a:rPr lang="en-US" sz="2100" dirty="0" err="1">
                <a:latin typeface="Avenir Book" panose="02000503020000020003" pitchFamily="2" charset="0"/>
              </a:rPr>
              <a:t>in.puma_metro_status</a:t>
            </a:r>
            <a:r>
              <a:rPr lang="en-US" sz="2100" dirty="0">
                <a:latin typeface="Avenir Book" panose="02000503020000020003" pitchFamily="2" charset="0"/>
              </a:rPr>
              <a:t> flag in </a:t>
            </a:r>
            <a:r>
              <a:rPr lang="en-US" sz="2100" dirty="0" err="1">
                <a:latin typeface="Avenir Book" panose="02000503020000020003" pitchFamily="2" charset="0"/>
              </a:rPr>
              <a:t>ResStock</a:t>
            </a:r>
            <a:r>
              <a:rPr lang="en-US" sz="2100" dirty="0">
                <a:latin typeface="Avenir Book" panose="02000503020000020003" pitchFamily="2" charset="0"/>
              </a:rPr>
              <a:t> data (which may not be exact).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Weekend and weekday travel profiles are different but they are consistent year round.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No explicit dependence between owning an EV and trip profiles.</a:t>
            </a:r>
          </a:p>
          <a:p>
            <a:pPr lvl="1"/>
            <a:r>
              <a:rPr lang="en-US" sz="1800" dirty="0">
                <a:latin typeface="Avenir Book" panose="02000503020000020003" pitchFamily="2" charset="0"/>
              </a:rPr>
              <a:t>E.g., EV owners might take shorter trips, or maybe they drive more because charging a car is cheaper than owning a gas-powered vehicle.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No correlation between EV schedule and rest of home base load (e.g., dishwasher, washing machine, HVAC, etc.)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053FC5F-133D-5952-82A5-7BE272CEE1EC}"/>
              </a:ext>
            </a:extLst>
          </p:cNvPr>
          <p:cNvSpPr/>
          <p:nvPr/>
        </p:nvSpPr>
        <p:spPr>
          <a:xfrm>
            <a:off x="762000" y="1371600"/>
            <a:ext cx="9906000" cy="5029200"/>
          </a:xfrm>
          <a:prstGeom prst="roundRect">
            <a:avLst>
              <a:gd name="adj" fmla="val 62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829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AB431-3B2B-C71C-3E5E-D9832029F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2CB04-E23D-8FC5-2121-6E128331B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7442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Step 5: Model at home/away &amp; discharge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17A1AA7-235A-66DC-112E-D4C138B3C7C2}"/>
              </a:ext>
            </a:extLst>
          </p:cNvPr>
          <p:cNvSpPr txBox="1">
            <a:spLocks/>
          </p:cNvSpPr>
          <p:nvPr/>
        </p:nvSpPr>
        <p:spPr>
          <a:xfrm>
            <a:off x="805149" y="1219200"/>
            <a:ext cx="10901429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From each EV owner’s travel schedule + vehicle type, we can construct the table: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D565871-976D-6345-7A8E-01826711A7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063272"/>
              </p:ext>
            </p:extLst>
          </p:nvPr>
        </p:nvGraphicFramePr>
        <p:xfrm>
          <a:off x="836814" y="2086708"/>
          <a:ext cx="5791200" cy="44196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105671788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199033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224896925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Datetime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EV at home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Discharge (kWh)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37926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Jan 1, 2024, 4am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648888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Jan 1, 2024, 5am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3194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Jan 1, 2024, 6am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404708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Jan 1, 2024, 7am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150619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Jan 1, 2024, 8am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3.1207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04167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Jan 1, 2024, 9am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27665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Jan 1, 2024, 10am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557639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D006844-DE8E-C00B-ED3A-B4CD095EC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2041" y="1867878"/>
            <a:ext cx="4191000" cy="16561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b="1" dirty="0">
                <a:latin typeface="Avenir Book" panose="02000503020000020003" pitchFamily="2" charset="0"/>
              </a:rPr>
              <a:t>Assumptions: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All trips start and end at home.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Miles are split uniformly among hours away.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5942DA3-5A2E-6F5C-D7AD-3203BAD47868}"/>
              </a:ext>
            </a:extLst>
          </p:cNvPr>
          <p:cNvSpPr/>
          <p:nvPr/>
        </p:nvSpPr>
        <p:spPr>
          <a:xfrm>
            <a:off x="7045841" y="1718652"/>
            <a:ext cx="4267200" cy="1805354"/>
          </a:xfrm>
          <a:prstGeom prst="roundRect">
            <a:avLst>
              <a:gd name="adj" fmla="val 62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7AC8831-41DD-8AD8-3507-44D32FFC93F3}"/>
              </a:ext>
            </a:extLst>
          </p:cNvPr>
          <p:cNvSpPr txBox="1">
            <a:spLocks/>
          </p:cNvSpPr>
          <p:nvPr/>
        </p:nvSpPr>
        <p:spPr>
          <a:xfrm>
            <a:off x="836814" y="1676400"/>
            <a:ext cx="4801986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bldg_id</a:t>
            </a:r>
            <a:r>
              <a:rPr lang="en-US" sz="21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=3870 in </a:t>
            </a:r>
            <a:r>
              <a:rPr lang="en-US" sz="21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ResStock</a:t>
            </a:r>
            <a:r>
              <a:rPr lang="en-US" sz="21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 (2024):</a:t>
            </a:r>
            <a:endParaRPr lang="en-US" sz="2100" dirty="0">
              <a:latin typeface="Avenir Book" panose="02000503020000020003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F59A4C-5AD1-AAE4-CA89-F644ED19B2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18"/>
          <a:stretch>
            <a:fillRect/>
          </a:stretch>
        </p:blipFill>
        <p:spPr>
          <a:xfrm>
            <a:off x="7622309" y="4445743"/>
            <a:ext cx="2885661" cy="2137496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BD1DC98-FEAD-DF33-AA14-D7CC56B000B8}"/>
              </a:ext>
            </a:extLst>
          </p:cNvPr>
          <p:cNvSpPr txBox="1">
            <a:spLocks/>
          </p:cNvSpPr>
          <p:nvPr/>
        </p:nvSpPr>
        <p:spPr>
          <a:xfrm>
            <a:off x="7122042" y="3781913"/>
            <a:ext cx="4191000" cy="2265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100" dirty="0">
                <a:latin typeface="Avenir Book" panose="02000503020000020003" pitchFamily="2" charset="0"/>
              </a:rPr>
              <a:t>Apply temperature scaling factor to get kWh discharged: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C24ED96-4B3F-2CB9-5290-BC90EE0D477C}"/>
              </a:ext>
            </a:extLst>
          </p:cNvPr>
          <p:cNvSpPr/>
          <p:nvPr/>
        </p:nvSpPr>
        <p:spPr>
          <a:xfrm>
            <a:off x="7045842" y="3652959"/>
            <a:ext cx="4267200" cy="2971800"/>
          </a:xfrm>
          <a:prstGeom prst="roundRect">
            <a:avLst>
              <a:gd name="adj" fmla="val 62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51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BD64D-CDCC-43ED-B6FB-80C4A7779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CF34B-5EFE-0333-946B-373880024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Step 6: Choose Charging Policy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30ABA9-75A8-D775-9B24-CE5F2E294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6800" y="1447800"/>
            <a:ext cx="3124200" cy="243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b="1" dirty="0">
                <a:latin typeface="Avenir Book" panose="02000503020000020003" pitchFamily="2" charset="0"/>
              </a:rPr>
              <a:t>Assumptions: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Level 2 smart charger always available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Vehicle plugged in for entire duration of being home (for some policies)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7835D09-5326-38F6-6F34-7E21ED2D7BA0}"/>
              </a:ext>
            </a:extLst>
          </p:cNvPr>
          <p:cNvSpPr/>
          <p:nvPr/>
        </p:nvSpPr>
        <p:spPr>
          <a:xfrm>
            <a:off x="8534400" y="1295400"/>
            <a:ext cx="3429000" cy="2667000"/>
          </a:xfrm>
          <a:prstGeom prst="roundRect">
            <a:avLst>
              <a:gd name="adj" fmla="val 62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7E16763-056C-4B32-F54B-10037C3F56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349492"/>
              </p:ext>
            </p:extLst>
          </p:nvPr>
        </p:nvGraphicFramePr>
        <p:xfrm>
          <a:off x="838200" y="1676400"/>
          <a:ext cx="7543800" cy="44196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87702">
                  <a:extLst>
                    <a:ext uri="{9D8B030D-6E8A-4147-A177-3AD203B41FA5}">
                      <a16:colId xmlns:a16="http://schemas.microsoft.com/office/drawing/2014/main" val="1056717882"/>
                    </a:ext>
                  </a:extLst>
                </a:gridCol>
                <a:gridCol w="1735074">
                  <a:extLst>
                    <a:ext uri="{9D8B030D-6E8A-4147-A177-3AD203B41FA5}">
                      <a16:colId xmlns:a16="http://schemas.microsoft.com/office/drawing/2014/main" val="341990335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3224896925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4157382974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Datetime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EV at home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Discharge (kWh)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Charge (kWh)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37926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Jan 1, 2024, 4am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83.68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648888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Jan 1, 2024, 5am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83.68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3194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Jan 1, 2024, 6am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83.68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404708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Jan 1, 2024, 7am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83.68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150619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Jan 1, 2024, 8am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3.1207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80.5593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04167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Jan 1, 2024, 9am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83.68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27665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Jan 1, 2024, 10am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83.68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557639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BCF03DE-390E-DD2E-350D-3CCD15D4D02D}"/>
              </a:ext>
            </a:extLst>
          </p:cNvPr>
          <p:cNvSpPr txBox="1">
            <a:spLocks/>
          </p:cNvSpPr>
          <p:nvPr/>
        </p:nvSpPr>
        <p:spPr>
          <a:xfrm>
            <a:off x="838200" y="1266092"/>
            <a:ext cx="51816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bldg_id</a:t>
            </a:r>
            <a:r>
              <a:rPr lang="en-US" sz="21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=3870 in </a:t>
            </a:r>
            <a:r>
              <a:rPr lang="en-US" sz="21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ResStock</a:t>
            </a:r>
            <a:r>
              <a:rPr lang="en-US" sz="21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 (2024):</a:t>
            </a:r>
            <a:endParaRPr lang="en-US" sz="2100" dirty="0">
              <a:latin typeface="Avenir Book" panose="02000503020000020003" pitchFamily="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4DD076E-72FE-0644-7D1D-D5B9B4A6F22C}"/>
              </a:ext>
            </a:extLst>
          </p:cNvPr>
          <p:cNvSpPr txBox="1">
            <a:spLocks/>
          </p:cNvSpPr>
          <p:nvPr/>
        </p:nvSpPr>
        <p:spPr>
          <a:xfrm>
            <a:off x="8686800" y="4343400"/>
            <a:ext cx="3124200" cy="213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100" b="1" dirty="0">
                <a:latin typeface="Avenir Book" panose="02000503020000020003" pitchFamily="2" charset="0"/>
              </a:rPr>
              <a:t>Charging Policies: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Immediate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Off peak immediate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Off peak for next day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Lower bound 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BB0859F-0546-E80C-3394-EC1557AF1242}"/>
              </a:ext>
            </a:extLst>
          </p:cNvPr>
          <p:cNvSpPr/>
          <p:nvPr/>
        </p:nvSpPr>
        <p:spPr>
          <a:xfrm>
            <a:off x="8534400" y="4191000"/>
            <a:ext cx="3429000" cy="2286000"/>
          </a:xfrm>
          <a:prstGeom prst="roundRect">
            <a:avLst>
              <a:gd name="adj" fmla="val 62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86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7249B-E48C-C93F-1B0C-BC66C31E0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CE95A-E8C3-6DDD-BD29-D031C302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Step 6: Choose Charging Policy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3E5627C-5AFA-D1CE-C55D-EEF576A135FB}"/>
              </a:ext>
            </a:extLst>
          </p:cNvPr>
          <p:cNvSpPr txBox="1">
            <a:spLocks/>
          </p:cNvSpPr>
          <p:nvPr/>
        </p:nvSpPr>
        <p:spPr>
          <a:xfrm>
            <a:off x="838200" y="1266092"/>
            <a:ext cx="57912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bldg_id</a:t>
            </a:r>
            <a:r>
              <a:rPr lang="en-US" sz="21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=3870 in </a:t>
            </a:r>
            <a:r>
              <a:rPr lang="en-US" sz="21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ResStock</a:t>
            </a:r>
            <a:r>
              <a:rPr lang="en-US" sz="21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 (2024):</a:t>
            </a:r>
            <a:endParaRPr lang="en-US" sz="2100" dirty="0">
              <a:latin typeface="Avenir Book" panose="02000503020000020003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0145EFD-F41D-A2C2-4433-E0CAE4222B0D}"/>
              </a:ext>
            </a:extLst>
          </p:cNvPr>
          <p:cNvSpPr txBox="1">
            <a:spLocks/>
          </p:cNvSpPr>
          <p:nvPr/>
        </p:nvSpPr>
        <p:spPr>
          <a:xfrm>
            <a:off x="7391400" y="6248400"/>
            <a:ext cx="44958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>
                <a:latin typeface="Avenir Book" panose="02000503020000020003" pitchFamily="2" charset="0"/>
              </a:rPr>
              <a:t>On-peak hours: 5:00pm-9:59pm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1FBE551-F042-822D-AD80-EFCDE3A7F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71805"/>
            <a:ext cx="6096000" cy="5182478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FBB3756-9B8D-CCF3-A7DD-89C47B4B84BF}"/>
              </a:ext>
            </a:extLst>
          </p:cNvPr>
          <p:cNvSpPr txBox="1">
            <a:spLocks/>
          </p:cNvSpPr>
          <p:nvPr/>
        </p:nvSpPr>
        <p:spPr>
          <a:xfrm>
            <a:off x="7543800" y="1981200"/>
            <a:ext cx="3818467" cy="3962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100" b="1" dirty="0">
                <a:latin typeface="Avenir Book" panose="02000503020000020003" pitchFamily="2" charset="0"/>
              </a:rPr>
              <a:t>Load shedding: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If not enough charge to complete a trip, truncate trip kWh and suppose vehicle makes it home.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Flag hours with SOC underflow (current sample has no such hours).</a:t>
            </a:r>
          </a:p>
          <a:p>
            <a:r>
              <a:rPr lang="en-US" sz="2100" dirty="0">
                <a:latin typeface="Avenir Book" panose="02000503020000020003" pitchFamily="2" charset="0"/>
              </a:rPr>
              <a:t>In cost-minimizing LP, add (large) penalty for load shedding and track hours.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C940051-3C5E-8638-9C7E-9E1BE44BFAD9}"/>
              </a:ext>
            </a:extLst>
          </p:cNvPr>
          <p:cNvSpPr/>
          <p:nvPr/>
        </p:nvSpPr>
        <p:spPr>
          <a:xfrm>
            <a:off x="7391400" y="1752600"/>
            <a:ext cx="4191000" cy="4191000"/>
          </a:xfrm>
          <a:prstGeom prst="roundRect">
            <a:avLst>
              <a:gd name="adj" fmla="val 62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005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8353D-3D02-EA2B-B0CB-CC7151BF7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9A4CD-F8E6-E567-F981-AFE787814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Aggregate Charging Load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C5850A-04B4-152D-1320-EE801D1C6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28800"/>
            <a:ext cx="8273696" cy="472440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A37728D-6165-6113-CE8F-84DF7EDA3012}"/>
              </a:ext>
            </a:extLst>
          </p:cNvPr>
          <p:cNvSpPr txBox="1">
            <a:spLocks/>
          </p:cNvSpPr>
          <p:nvPr/>
        </p:nvSpPr>
        <p:spPr>
          <a:xfrm>
            <a:off x="838200" y="1295400"/>
            <a:ext cx="74676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 err="1">
                <a:latin typeface="Avenir Book" panose="02000503020000020003" pitchFamily="2" charset="0"/>
              </a:rPr>
              <a:t>ResStock</a:t>
            </a:r>
            <a:r>
              <a:rPr lang="en-US" sz="2100" dirty="0">
                <a:latin typeface="Avenir Book" panose="02000503020000020003" pitchFamily="2" charset="0"/>
              </a:rPr>
              <a:t> (2024) MD EV aggregate charging load sample: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D35C84F-40E7-7B6D-52AC-39F6A266B2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968413"/>
              </p:ext>
            </p:extLst>
          </p:nvPr>
        </p:nvGraphicFramePr>
        <p:xfrm>
          <a:off x="8970492" y="2362200"/>
          <a:ext cx="2992908" cy="3714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6454">
                  <a:extLst>
                    <a:ext uri="{9D8B030D-6E8A-4147-A177-3AD203B41FA5}">
                      <a16:colId xmlns:a16="http://schemas.microsoft.com/office/drawing/2014/main" val="2354032441"/>
                    </a:ext>
                  </a:extLst>
                </a:gridCol>
                <a:gridCol w="1496454">
                  <a:extLst>
                    <a:ext uri="{9D8B030D-6E8A-4147-A177-3AD203B41FA5}">
                      <a16:colId xmlns:a16="http://schemas.microsoft.com/office/drawing/2014/main" val="321288873"/>
                    </a:ext>
                  </a:extLst>
                </a:gridCol>
              </a:tblGrid>
              <a:tr h="742950">
                <a:tc gridSpan="2"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Peak Hourly EV Load (kWh)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30773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Immediate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154.03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37228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Off-peak immediate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439.36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726659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Off-peak for next day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533.31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480962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Cost minimizing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82.12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579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146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1CC3D-5A3A-7285-26B6-2DB0C9B5E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947E0-F07B-8ADA-9C9B-8E4166FDF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Aggregate Charging Load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A05DF9-43B9-9C77-372B-D4E9FE63D077}"/>
              </a:ext>
            </a:extLst>
          </p:cNvPr>
          <p:cNvSpPr txBox="1">
            <a:spLocks/>
          </p:cNvSpPr>
          <p:nvPr/>
        </p:nvSpPr>
        <p:spPr>
          <a:xfrm>
            <a:off x="838200" y="1295400"/>
            <a:ext cx="96774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 err="1">
                <a:latin typeface="Avenir Book" panose="02000503020000020003" pitchFamily="2" charset="0"/>
              </a:rPr>
              <a:t>ResStock</a:t>
            </a:r>
            <a:r>
              <a:rPr lang="en-US" sz="2100" dirty="0">
                <a:latin typeface="Avenir Book" panose="02000503020000020003" pitchFamily="2" charset="0"/>
              </a:rPr>
              <a:t> (2024) MD EV aggregate charging load + base load sample: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FEC09B-2AE9-C1AB-1123-128BA3AA49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660619"/>
              </p:ext>
            </p:extLst>
          </p:nvPr>
        </p:nvGraphicFramePr>
        <p:xfrm>
          <a:off x="8970492" y="2362200"/>
          <a:ext cx="2992908" cy="3714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6454">
                  <a:extLst>
                    <a:ext uri="{9D8B030D-6E8A-4147-A177-3AD203B41FA5}">
                      <a16:colId xmlns:a16="http://schemas.microsoft.com/office/drawing/2014/main" val="2354032441"/>
                    </a:ext>
                  </a:extLst>
                </a:gridCol>
                <a:gridCol w="1496454">
                  <a:extLst>
                    <a:ext uri="{9D8B030D-6E8A-4147-A177-3AD203B41FA5}">
                      <a16:colId xmlns:a16="http://schemas.microsoft.com/office/drawing/2014/main" val="321288873"/>
                    </a:ext>
                  </a:extLst>
                </a:gridCol>
              </a:tblGrid>
              <a:tr h="742950">
                <a:tc gridSpan="2"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Peak Hourly EV + Base Load (kWh)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30773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Immediate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981.75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37228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Off-peak immediate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1123.22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726659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Off-peak for next day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1220.27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480962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Cost minimizing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988.18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57940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46C44D4A-1C15-A168-7447-F88DB2BDA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28800"/>
            <a:ext cx="8305800" cy="473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3254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3ACF0-E8DE-A312-9F8A-E62564DE8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EC483-C272-59DF-156D-F3D87B348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Aggregate Charging Load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1DD231-0D57-0523-3020-1E7F8BFA89A9}"/>
              </a:ext>
            </a:extLst>
          </p:cNvPr>
          <p:cNvSpPr txBox="1">
            <a:spLocks/>
          </p:cNvSpPr>
          <p:nvPr/>
        </p:nvSpPr>
        <p:spPr>
          <a:xfrm>
            <a:off x="838200" y="1295400"/>
            <a:ext cx="96774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 err="1">
                <a:latin typeface="Avenir Book" panose="02000503020000020003" pitchFamily="2" charset="0"/>
              </a:rPr>
              <a:t>ResStock</a:t>
            </a:r>
            <a:r>
              <a:rPr lang="en-US" sz="2100" dirty="0">
                <a:latin typeface="Avenir Book" panose="02000503020000020003" pitchFamily="2" charset="0"/>
              </a:rPr>
              <a:t> (2025) MD EV aggregate charging load + base load sample: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942B36-18B2-5FB3-9D4A-98ACF5731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8800"/>
            <a:ext cx="7772400" cy="24603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3732AB-4A4F-F813-7FD0-5D2959F63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267200"/>
            <a:ext cx="7772400" cy="246032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7071ADA-13BD-4839-1A13-2BB691AB7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9126974"/>
              </p:ext>
            </p:extLst>
          </p:nvPr>
        </p:nvGraphicFramePr>
        <p:xfrm>
          <a:off x="8915400" y="2209800"/>
          <a:ext cx="2992908" cy="148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6454">
                  <a:extLst>
                    <a:ext uri="{9D8B030D-6E8A-4147-A177-3AD203B41FA5}">
                      <a16:colId xmlns:a16="http://schemas.microsoft.com/office/drawing/2014/main" val="2123270742"/>
                    </a:ext>
                  </a:extLst>
                </a:gridCol>
                <a:gridCol w="1496454">
                  <a:extLst>
                    <a:ext uri="{9D8B030D-6E8A-4147-A177-3AD203B41FA5}">
                      <a16:colId xmlns:a16="http://schemas.microsoft.com/office/drawing/2014/main" val="2182071287"/>
                    </a:ext>
                  </a:extLst>
                </a:gridCol>
              </a:tblGrid>
              <a:tr h="742950">
                <a:tc gridSpan="2"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Peak Hourly EV Load (kWh)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25876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Immediate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164.76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47064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C43ACD0-75FC-BD27-93E6-A1C41BF9B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723880"/>
              </p:ext>
            </p:extLst>
          </p:nvPr>
        </p:nvGraphicFramePr>
        <p:xfrm>
          <a:off x="8915400" y="4648200"/>
          <a:ext cx="2992908" cy="148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6454">
                  <a:extLst>
                    <a:ext uri="{9D8B030D-6E8A-4147-A177-3AD203B41FA5}">
                      <a16:colId xmlns:a16="http://schemas.microsoft.com/office/drawing/2014/main" val="2123270742"/>
                    </a:ext>
                  </a:extLst>
                </a:gridCol>
                <a:gridCol w="1496454">
                  <a:extLst>
                    <a:ext uri="{9D8B030D-6E8A-4147-A177-3AD203B41FA5}">
                      <a16:colId xmlns:a16="http://schemas.microsoft.com/office/drawing/2014/main" val="2182071287"/>
                    </a:ext>
                  </a:extLst>
                </a:gridCol>
              </a:tblGrid>
              <a:tr h="742950">
                <a:tc gridSpan="2"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Peak Hourly EV + Base Load (kWh)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25876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Immediate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venir Book" panose="02000503020000020003" pitchFamily="2" charset="0"/>
                        </a:rPr>
                        <a:t>797.86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470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9706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6853</TotalTime>
  <Words>1446</Words>
  <Application>Microsoft Macintosh PowerPoint</Application>
  <PresentationFormat>Widescreen</PresentationFormat>
  <Paragraphs>319</Paragraphs>
  <Slides>19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Avenir Book</vt:lpstr>
      <vt:lpstr>Office Theme</vt:lpstr>
      <vt:lpstr>Modeling the Residential  EV Charging Load </vt:lpstr>
      <vt:lpstr>Presentation Agenda</vt:lpstr>
      <vt:lpstr>Step 1: Model EV Adoption</vt:lpstr>
      <vt:lpstr>Step 1: Model EV Adoption</vt:lpstr>
      <vt:lpstr>Step 1: Model EV Adoption</vt:lpstr>
      <vt:lpstr>Step 2: Assign Driving Profiles</vt:lpstr>
      <vt:lpstr>Step 2: Assign Driving Profiles</vt:lpstr>
      <vt:lpstr>Step 3: Simulate Annual Travel</vt:lpstr>
      <vt:lpstr>Step 3: Simulate Annual Travel</vt:lpstr>
      <vt:lpstr>Step 3: Simulate Annual Travel</vt:lpstr>
      <vt:lpstr>Step 4: Assign Vehicle Characteristics</vt:lpstr>
      <vt:lpstr>Step 4: Assign Vehicle Characteristics</vt:lpstr>
      <vt:lpstr>Assumptions in Steps 2-4</vt:lpstr>
      <vt:lpstr>Step 5: Model at home/away &amp; discharge</vt:lpstr>
      <vt:lpstr>Step 6: Choose Charging Policy</vt:lpstr>
      <vt:lpstr>Step 6: Choose Charging Policy</vt:lpstr>
      <vt:lpstr>Aggregate Charging Load</vt:lpstr>
      <vt:lpstr>Aggregate Charging Load</vt:lpstr>
      <vt:lpstr>Aggregate Charging Load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Lilianna Mulan Gittoes</dc:creator>
  <cp:lastModifiedBy>Lilianna Mulan Gittoes</cp:lastModifiedBy>
  <cp:revision>40</cp:revision>
  <dcterms:created xsi:type="dcterms:W3CDTF">2026-07-19T01:25:40Z</dcterms:created>
  <dcterms:modified xsi:type="dcterms:W3CDTF">2026-07-26T20:16:13Z</dcterms:modified>
</cp:coreProperties>
</file>