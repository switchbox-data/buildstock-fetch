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8" r:id="rId3"/>
    <p:sldId id="258" r:id="rId4"/>
    <p:sldId id="272" r:id="rId5"/>
    <p:sldId id="271" r:id="rId6"/>
    <p:sldId id="262" r:id="rId7"/>
    <p:sldId id="284" r:id="rId8"/>
    <p:sldId id="263" r:id="rId9"/>
    <p:sldId id="274" r:id="rId10"/>
    <p:sldId id="264" r:id="rId11"/>
    <p:sldId id="275" r:id="rId12"/>
    <p:sldId id="287" r:id="rId13"/>
    <p:sldId id="288" r:id="rId14"/>
    <p:sldId id="285" r:id="rId15"/>
    <p:sldId id="286" r:id="rId16"/>
    <p:sldId id="268" r:id="rId17"/>
    <p:sldId id="265" r:id="rId18"/>
    <p:sldId id="289" r:id="rId19"/>
    <p:sldId id="276" r:id="rId20"/>
    <p:sldId id="277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8EF"/>
    <a:srgbClr val="DFCEDC"/>
    <a:srgbClr val="D86ECC"/>
    <a:srgbClr val="3B7D23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4752"/>
  </p:normalViewPr>
  <p:slideViewPr>
    <p:cSldViewPr snapToGrid="0">
      <p:cViewPr>
        <p:scale>
          <a:sx n="95" d="100"/>
          <a:sy n="95" d="100"/>
        </p:scale>
        <p:origin x="88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14A72-B03E-D748-ACD0-FDE68A7647C9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0263D-AD8E-9E4C-B25B-9C63F2F59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90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47F35-40E1-9044-B85E-8A1F398D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91247-3729-D53D-A7B1-8444C0E69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B41BE-E922-4071-46EF-C623CEF5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F0D18-9F88-CD46-E68E-9B156A5B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23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2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C772-9204-7864-C937-A1F753E3F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438CC-C2C6-E5A1-05B1-ED815AAC6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C9230-0F78-5ABE-7B6A-A5AD08F57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Add more visualizations along the way. Like visualize demographic data influencing trip profiles for example</a:t>
            </a:r>
          </a:p>
          <a:p>
            <a:pPr marL="171450" indent="-171450">
              <a:buFontTx/>
              <a:buChar char="-"/>
            </a:pPr>
            <a:r>
              <a:rPr lang="en-US" dirty="0"/>
              <a:t>Representation of load shifting under different assumptions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03CAB-FCA0-A43F-4CCA-D3C7F8CF7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02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83EB-8105-ECD5-E784-20F71C1A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8F5E5-D52C-DEF2-344F-81021E717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090DC-12C6-F764-5672-C41B2E5C6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Add more visualizations along the way. Like visualize demographic data influencing trip profiles for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740C5-FCB4-006F-1733-49807B7DC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26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plots are before filtering!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60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96D45-9732-F218-DAA7-6DAA67256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B984B-2ED9-8481-BBCF-9EBBC8377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16C66-4220-3A38-F215-47C0DEA9B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5D2B9-3855-A0A2-49BE-FD770082A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49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See if we can compare our distribution of EV daily miles traveled against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71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0CCF-820D-A2CA-C58E-C539D8FFA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D5E82-DDB9-B23C-CD97-532556F72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376A4-753E-94F1-3F1A-BBED39E93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See if we can compare our distribution of EV daily miles traveled against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F896E-9A12-9C3F-1E48-D660329BC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0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0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6752-3087-07D3-BE9E-416069053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EB1F5-4C78-9D21-12FC-A3FFDFCD6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8E8F3-5C78-D156-5638-55B98618E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B6640-11E3-2ACF-1433-2FA3484A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6C3BC-F470-AF89-4F4C-C6BA3B2F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79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59C7-88F7-84A5-34B7-1C973D6F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FBFDF-BD09-A99E-5A91-DCEAF160D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75344-6D86-1312-0409-E7E4F840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1984E-4EF9-7865-712D-0B7AF51B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AAD43-A8BA-E40F-15F5-5CC133A6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7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56A3-E841-C4C8-7663-EAC34E08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42BA6-B05E-5DF6-90F6-2887BF002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6515D-95EF-AD34-4AB3-1572E0D8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27428-31DA-1732-FA77-604D0B7A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B904A-23B6-2C99-298C-795C8FC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7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ACD1-E8CC-0598-399E-A5D381A7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E2004-FD11-994C-DE67-B1626F1F2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0BEBB-1F1B-2A29-1B53-CBA85EB9D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CA102-4A58-E55D-90AE-56AA52F9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15483-BAAE-C3FB-C40F-65347BD8D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7ED54-3AF2-648C-B72D-FC333886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1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30AE-61D6-9134-2766-4921B49B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FC71A-2A42-BB18-0EE4-C19B418A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F1FDD-7D75-5412-8CE5-289272001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18CEF-9E7F-73C1-CC7D-EEC42FF0D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899B7-AB28-C28A-0B87-DF45E9C76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3A4C2-7956-10A9-BED5-023FCB63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9C92C-7692-C649-F14B-91A3CA53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24D4D-BD25-403F-9848-844D6C8A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891F-1C10-8066-17DC-B03B5067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8546B-0106-64C4-73C7-781A34319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9CDEE-9F98-EF8D-AFB0-3B361673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3FB4B-6C40-C515-8628-B70D71CF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2FFCE1-302C-FAEE-02AE-55482084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BAF51-465B-CC46-8853-AFFE0581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B456C-3B87-FDF2-3078-FDD056E1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6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5C83-D185-6929-2C99-DF3D3EE7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FED72-E5B5-D01E-335C-8297B5506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0A3A5-0698-53C6-EE14-DDD3A64CF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35DF4-73BA-177B-AEEE-E70A55FC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3BC10-BAB3-2BB3-D46F-9763710A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F2028-0F53-ED72-7254-7AE00065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4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941C-DF6D-9B4F-3D8C-10380AB2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B4CA5-2952-D563-9E34-4DA16CFEF5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D6AED-3024-8F0C-9410-458EDD2DA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4E2D1-8B61-4AD6-9BF7-6BDF2453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88B2C-23F4-0AF8-7D95-794E256C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97A35-D59D-38EF-BF9C-063B8CB7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5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5D85-9DF9-2BED-9C02-9BB77FF1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4CC9A-EC0E-47BD-F5CF-3B6DD1B8F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E595C-EFBA-0682-F6BE-FF8100BB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ECB09-B822-FC64-4CA9-DB5E18525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93469-A368-AEFF-3B8A-176E779F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9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0FE7F-41B1-FBED-54D0-D67AAED51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52678-80B9-2D96-187A-DC721EF0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E90D1-1EEC-603A-437A-31DEA9ED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6639A-5D95-15B9-BEFB-B705E466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2DEC2-47BA-1E4E-835E-8DA0A9F8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1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6BDA55-7D80-BE05-DDB0-6C4BE3D1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D6EAA-15D6-CA0F-199A-D0A51BFA2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E6FA5-61E7-F989-B1B0-004C536C1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16B5E-A1D0-FF42-9C00-44B119C5C6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0DA0B-BBD6-C828-BCF1-9CBC43BCA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299E-E7CB-26CC-5CAA-B8A96254E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3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3317-8137-EB54-7A12-6D95555DC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6800"/>
            <a:ext cx="9144000" cy="2687638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Modeling the Residential </a:t>
            </a:r>
            <a:br>
              <a:rPr lang="en-US" dirty="0">
                <a:latin typeface="Avenir Book" panose="02000503020000020003" pitchFamily="2" charset="0"/>
              </a:rPr>
            </a:br>
            <a:r>
              <a:rPr lang="en-US" dirty="0">
                <a:latin typeface="Avenir Book" panose="02000503020000020003" pitchFamily="2" charset="0"/>
              </a:rPr>
              <a:t>EV Charging Load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05F9C-E030-1294-4A64-9EA29D204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0237"/>
            <a:ext cx="9144000" cy="1219200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Presented by: Lily Gittoes</a:t>
            </a:r>
          </a:p>
          <a:p>
            <a:r>
              <a:rPr lang="en-US" dirty="0">
                <a:latin typeface="Avenir Book" panose="02000503020000020003" pitchFamily="2" charset="0"/>
              </a:rPr>
              <a:t>August 27, 2026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83F085-9206-B958-0000-E84C7F5AA3BB}"/>
              </a:ext>
            </a:extLst>
          </p:cNvPr>
          <p:cNvSpPr/>
          <p:nvPr/>
        </p:nvSpPr>
        <p:spPr>
          <a:xfrm>
            <a:off x="1371600" y="1524000"/>
            <a:ext cx="9448800" cy="2590800"/>
          </a:xfrm>
          <a:prstGeom prst="roundRect">
            <a:avLst>
              <a:gd name="adj" fmla="val 964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3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02BF9-E052-1EB9-3343-142C18CE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716D-BCCD-C85F-879E-E3504885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Motivating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67E73-BB1F-ACFF-F77C-A4AB6E72F0B1}"/>
              </a:ext>
            </a:extLst>
          </p:cNvPr>
          <p:cNvSpPr txBox="1">
            <a:spLocks/>
          </p:cNvSpPr>
          <p:nvPr/>
        </p:nvSpPr>
        <p:spPr>
          <a:xfrm>
            <a:off x="914400" y="1523999"/>
            <a:ext cx="9448800" cy="1143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dirty="0">
                <a:latin typeface="Avenir Book" panose="02000503020000020003" pitchFamily="2" charset="0"/>
              </a:rPr>
              <a:t>1. How does a TOU rate change the amount and timing of residential electricity demand compared with a flat rate, and how does this effect vary as EV adoption increases?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68C6CD2-AE88-6FEB-5E18-26FD4C6A5F2C}"/>
              </a:ext>
            </a:extLst>
          </p:cNvPr>
          <p:cNvSpPr/>
          <p:nvPr/>
        </p:nvSpPr>
        <p:spPr>
          <a:xfrm>
            <a:off x="762000" y="1371600"/>
            <a:ext cx="9906000" cy="1295400"/>
          </a:xfrm>
          <a:prstGeom prst="roundRect">
            <a:avLst>
              <a:gd name="adj" fmla="val 105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3FB3A7-AB32-568D-AC50-D851B64D7C1A}"/>
              </a:ext>
            </a:extLst>
          </p:cNvPr>
          <p:cNvSpPr txBox="1">
            <a:spLocks/>
          </p:cNvSpPr>
          <p:nvPr/>
        </p:nvSpPr>
        <p:spPr>
          <a:xfrm>
            <a:off x="914400" y="4447477"/>
            <a:ext cx="9448800" cy="1724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b="1" dirty="0">
                <a:latin typeface="Avenir Book" panose="02000503020000020003" pitchFamily="2" charset="0"/>
              </a:rPr>
              <a:t>Presentation Agenda: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Walk through EV demand model (for </a:t>
            </a:r>
            <a:r>
              <a:rPr lang="en-US" sz="2100" b="1" dirty="0" err="1">
                <a:solidFill>
                  <a:srgbClr val="D86ECC"/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rgbClr val="D86ECC"/>
                </a:solidFill>
                <a:latin typeface="Avenir Book" panose="02000503020000020003" pitchFamily="2" charset="0"/>
              </a:rPr>
              <a:t> (2024</a:t>
            </a:r>
            <a:r>
              <a:rPr lang="en-US" sz="2100" dirty="0">
                <a:latin typeface="Avenir Book" panose="02000503020000020003" pitchFamily="2" charset="0"/>
              </a:rPr>
              <a:t>) buildings)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Present Maryland simulation results for baseline </a:t>
            </a:r>
            <a:r>
              <a:rPr lang="en-US" sz="2100" b="1" dirty="0" err="1">
                <a:solidFill>
                  <a:srgbClr val="D86ECC"/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rgbClr val="D86ECC"/>
                </a:solidFill>
                <a:latin typeface="Avenir Book" panose="02000503020000020003" pitchFamily="2" charset="0"/>
              </a:rPr>
              <a:t> (2024)</a:t>
            </a:r>
            <a:r>
              <a:rPr lang="en-US" sz="2100" dirty="0">
                <a:latin typeface="Avenir Book" panose="02000503020000020003" pitchFamily="2" charset="0"/>
              </a:rPr>
              <a:t> scenario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Discuss key takeaways for the design of TOU rates for EVs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3418A1-F3D0-820B-033D-0BEC17FEE747}"/>
              </a:ext>
            </a:extLst>
          </p:cNvPr>
          <p:cNvSpPr/>
          <p:nvPr/>
        </p:nvSpPr>
        <p:spPr>
          <a:xfrm>
            <a:off x="762000" y="4343400"/>
            <a:ext cx="9906000" cy="1905000"/>
          </a:xfrm>
          <a:prstGeom prst="roundRect">
            <a:avLst>
              <a:gd name="adj" fmla="val 832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5B6859-4BB5-B0CC-394B-C8B8391B4F33}"/>
              </a:ext>
            </a:extLst>
          </p:cNvPr>
          <p:cNvSpPr txBox="1">
            <a:spLocks/>
          </p:cNvSpPr>
          <p:nvPr/>
        </p:nvSpPr>
        <p:spPr>
          <a:xfrm>
            <a:off x="914400" y="3124199"/>
            <a:ext cx="9448800" cy="76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dirty="0">
                <a:latin typeface="Avenir Book" panose="02000503020000020003" pitchFamily="2" charset="0"/>
              </a:rPr>
              <a:t>2. How much can EV owners save on their electricity bills by choosing a TOU rate instead of a flat rate?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DA94A9A-62B4-71BA-B044-893A633DB0BF}"/>
              </a:ext>
            </a:extLst>
          </p:cNvPr>
          <p:cNvSpPr/>
          <p:nvPr/>
        </p:nvSpPr>
        <p:spPr>
          <a:xfrm>
            <a:off x="762000" y="2971800"/>
            <a:ext cx="9906000" cy="990600"/>
          </a:xfrm>
          <a:prstGeom prst="roundRect">
            <a:avLst>
              <a:gd name="adj" fmla="val 162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8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4" grpId="0"/>
      <p:bldP spid="5" grpId="0" animBg="1"/>
      <p:bldP spid="7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D526-91C1-955A-97B4-7F8D9DEBB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CB8106C-4B91-FFC2-B277-6C0B0C2A715D}"/>
              </a:ext>
            </a:extLst>
          </p:cNvPr>
          <p:cNvSpPr txBox="1">
            <a:spLocks/>
          </p:cNvSpPr>
          <p:nvPr/>
        </p:nvSpPr>
        <p:spPr>
          <a:xfrm>
            <a:off x="433085" y="3721261"/>
            <a:ext cx="10082515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Plots of EV ownership rates by segment (weighted by PUMS source weights):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D5E59E-510F-E206-543A-42316DEC4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2" y="4271058"/>
            <a:ext cx="3997203" cy="20698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C147DB-7AB8-F984-B0B8-5ACE92A27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459" y="4270263"/>
            <a:ext cx="4013522" cy="23525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273E548-116B-7968-AC51-BD4097197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2023" y="4286954"/>
            <a:ext cx="4025096" cy="1984122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C52F840-F554-9AED-1BC8-DA0833C8E14C}"/>
              </a:ext>
            </a:extLst>
          </p:cNvPr>
          <p:cNvSpPr txBox="1">
            <a:spLocks/>
          </p:cNvSpPr>
          <p:nvPr/>
        </p:nvSpPr>
        <p:spPr>
          <a:xfrm>
            <a:off x="914400" y="1371600"/>
            <a:ext cx="56388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rgbClr val="3B7D23"/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 (2025) </a:t>
            </a:r>
            <a:r>
              <a:rPr lang="en-US" sz="2100" b="1" dirty="0">
                <a:latin typeface="Avenir Book" panose="02000503020000020003" pitchFamily="2" charset="0"/>
              </a:rPr>
              <a:t>gives EV ownership rates by: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Federal poverty level (FPL)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Building type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Tenure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PUMA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8A5210-73A4-5E3B-88B7-F666168698CD}"/>
              </a:ext>
            </a:extLst>
          </p:cNvPr>
          <p:cNvSpPr/>
          <p:nvPr/>
        </p:nvSpPr>
        <p:spPr>
          <a:xfrm>
            <a:off x="838200" y="1295400"/>
            <a:ext cx="5715000" cy="2209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4E1DAA-50D4-CC86-92C3-4D5C5CDDDCB7}"/>
              </a:ext>
            </a:extLst>
          </p:cNvPr>
          <p:cNvSpPr txBox="1">
            <a:spLocks/>
          </p:cNvSpPr>
          <p:nvPr/>
        </p:nvSpPr>
        <p:spPr>
          <a:xfrm>
            <a:off x="7010400" y="1447800"/>
            <a:ext cx="4572000" cy="1342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Assumptions: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Each household has at most 1 EV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Vacant units do not have EVs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4DE88A6-3AFF-EA34-5CC1-A9824924270D}"/>
              </a:ext>
            </a:extLst>
          </p:cNvPr>
          <p:cNvSpPr/>
          <p:nvPr/>
        </p:nvSpPr>
        <p:spPr>
          <a:xfrm>
            <a:off x="6934200" y="1295400"/>
            <a:ext cx="4572000" cy="2209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3C5E7A-5C84-993B-9C54-5B3117E9C032}"/>
              </a:ext>
            </a:extLst>
          </p:cNvPr>
          <p:cNvSpPr txBox="1">
            <a:spLocks/>
          </p:cNvSpPr>
          <p:nvPr/>
        </p:nvSpPr>
        <p:spPr>
          <a:xfrm>
            <a:off x="838200" y="152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venir Book" panose="02000503020000020003" pitchFamily="2" charset="0"/>
              </a:rPr>
              <a:t>Step 1: Model EV Adoption</a:t>
            </a:r>
          </a:p>
        </p:txBody>
      </p:sp>
    </p:spTree>
    <p:extLst>
      <p:ext uri="{BB962C8B-B14F-4D97-AF65-F5344CB8AC3E}">
        <p14:creationId xmlns:p14="http://schemas.microsoft.com/office/powerpoint/2010/main" val="44151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/>
      <p:bldP spid="13" grpId="0" animBg="1"/>
      <p:bldP spid="14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2E63-825F-5F19-CB61-F2926812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4BD9-91A4-EFD0-4035-DDC5FDA40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1: Model EV Adoption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4629987-A633-F035-A16E-72A5BFA6A08D}"/>
              </a:ext>
            </a:extLst>
          </p:cNvPr>
          <p:cNvGraphicFramePr>
            <a:graphicFrameLocks noGrp="1"/>
          </p:cNvGraphicFramePr>
          <p:nvPr/>
        </p:nvGraphicFramePr>
        <p:xfrm>
          <a:off x="861350" y="1593448"/>
          <a:ext cx="10515601" cy="2209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77801490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3704969269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121629754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74715235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9050888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2467488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78787586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bldg_id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fpl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building_type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puma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tenure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P(EV)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77478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MD, 01001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0.047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97059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MD, 01203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0.029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1925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200-300%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MD, 01600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Renter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0.002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3794"/>
                  </a:ext>
                </a:extLst>
              </a:tr>
            </a:tbl>
          </a:graphicData>
        </a:graphic>
      </p:graphicFrame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7161F92-2728-E1AE-7CEB-78B4BBF8B3DC}"/>
              </a:ext>
            </a:extLst>
          </p:cNvPr>
          <p:cNvSpPr txBox="1">
            <a:spLocks/>
          </p:cNvSpPr>
          <p:nvPr/>
        </p:nvSpPr>
        <p:spPr>
          <a:xfrm>
            <a:off x="785149" y="1212448"/>
            <a:ext cx="4642635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 </a:t>
            </a:r>
            <a:r>
              <a:rPr lang="en-US" sz="2100" dirty="0" err="1">
                <a:latin typeface="Avenir Book" panose="02000503020000020003" pitchFamily="2" charset="0"/>
              </a:rPr>
              <a:t>metadata_df</a:t>
            </a:r>
            <a:r>
              <a:rPr lang="en-US" sz="2100" dirty="0">
                <a:latin typeface="Avenir Book" panose="02000503020000020003" pitchFamily="2" charset="0"/>
              </a:rPr>
              <a:t> (MD):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659D81F-1192-784B-9F3C-D9036633CE33}"/>
              </a:ext>
            </a:extLst>
          </p:cNvPr>
          <p:cNvSpPr txBox="1">
            <a:spLocks/>
          </p:cNvSpPr>
          <p:nvPr/>
        </p:nvSpPr>
        <p:spPr>
          <a:xfrm>
            <a:off x="8633750" y="1212448"/>
            <a:ext cx="2590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Bernoulli sampling!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9A01-002A-ED5D-E7EE-6FCA95D53163}"/>
              </a:ext>
            </a:extLst>
          </p:cNvPr>
          <p:cNvSpPr txBox="1">
            <a:spLocks/>
          </p:cNvSpPr>
          <p:nvPr/>
        </p:nvSpPr>
        <p:spPr>
          <a:xfrm>
            <a:off x="914400" y="4296509"/>
            <a:ext cx="4572000" cy="1951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Scaling to future EV adoption: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Set target adoption rate p%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Scale </a:t>
            </a:r>
            <a:r>
              <a:rPr lang="en-US" sz="2100" b="1" dirty="0" err="1">
                <a:solidFill>
                  <a:srgbClr val="3B7D23"/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rgbClr val="3B7D23"/>
                </a:solidFill>
                <a:latin typeface="Avenir Book" panose="02000503020000020003" pitchFamily="2" charset="0"/>
              </a:rPr>
              <a:t> (2025) </a:t>
            </a:r>
            <a:r>
              <a:rPr lang="en-US" sz="2100" dirty="0">
                <a:latin typeface="Avenir Book" panose="02000503020000020003" pitchFamily="2" charset="0"/>
              </a:rPr>
              <a:t>rates linearly (cap at 1 and fill segments with zero rates last)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77636A-82F9-ECD9-60A1-417730E369AF}"/>
              </a:ext>
            </a:extLst>
          </p:cNvPr>
          <p:cNvSpPr txBox="1">
            <a:spLocks/>
          </p:cNvSpPr>
          <p:nvPr/>
        </p:nvSpPr>
        <p:spPr>
          <a:xfrm>
            <a:off x="5943600" y="4220309"/>
            <a:ext cx="56388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Relation to TEMPO:</a:t>
            </a:r>
          </a:p>
          <a:p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TEMPO</a:t>
            </a:r>
            <a:r>
              <a:rPr lang="en-US" sz="2100" dirty="0">
                <a:latin typeface="Avenir Book" panose="02000503020000020003" pitchFamily="2" charset="0"/>
              </a:rPr>
              <a:t> model outputs EV stock in 3 scenarios (baseline, high electrification, and all EV sales by 2035)</a:t>
            </a:r>
          </a:p>
          <a:p>
            <a:r>
              <a:rPr lang="en-US" sz="2100" b="1" dirty="0" err="1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 (2025) </a:t>
            </a:r>
            <a:r>
              <a:rPr lang="en-US" sz="2100" dirty="0">
                <a:latin typeface="Avenir Book" panose="02000503020000020003" pitchFamily="2" charset="0"/>
              </a:rPr>
              <a:t>EV adoption rates are aligned with 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TEMPO</a:t>
            </a:r>
            <a:r>
              <a:rPr lang="en-US" sz="2100" dirty="0">
                <a:latin typeface="Avenir Book" panose="02000503020000020003" pitchFamily="2" charset="0"/>
              </a:rPr>
              <a:t> baseline year (2023)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E2F296-A7AD-CD27-B6C9-2E7EB57573A0}"/>
              </a:ext>
            </a:extLst>
          </p:cNvPr>
          <p:cNvSpPr/>
          <p:nvPr/>
        </p:nvSpPr>
        <p:spPr>
          <a:xfrm>
            <a:off x="838200" y="4144109"/>
            <a:ext cx="4724400" cy="2209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D205246-BD7B-6097-CAD9-BCA4BBE21451}"/>
              </a:ext>
            </a:extLst>
          </p:cNvPr>
          <p:cNvSpPr/>
          <p:nvPr/>
        </p:nvSpPr>
        <p:spPr>
          <a:xfrm>
            <a:off x="5867400" y="4144109"/>
            <a:ext cx="5715000" cy="2209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1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3" grpId="0"/>
      <p:bldP spid="4" grpId="0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4C34B-3B5E-CBC0-81E3-926A72F25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6459-39C0-6E62-A0DC-D9D616EC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1: Model EV Adoption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7F08A5B-08C1-8C21-118F-AB511A9943D4}"/>
              </a:ext>
            </a:extLst>
          </p:cNvPr>
          <p:cNvSpPr txBox="1">
            <a:spLocks/>
          </p:cNvSpPr>
          <p:nvPr/>
        </p:nvSpPr>
        <p:spPr>
          <a:xfrm>
            <a:off x="433085" y="1143000"/>
            <a:ext cx="11758915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sampled EV ownership rates by segment (apply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Building weights):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D83CC8-F12D-1DA2-DD7C-CCBDDB175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600200"/>
            <a:ext cx="4114800" cy="239931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354577F-2841-FE0D-89F8-629D8C7B6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524000"/>
            <a:ext cx="4152014" cy="205214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BF96A44-89A0-F6E5-270A-A46894A43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4000"/>
            <a:ext cx="3971928" cy="20574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36B8FC8-A7A5-D676-F962-E76195F51C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2" y="4419819"/>
            <a:ext cx="3947583" cy="204479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2A8244F-24E7-66DA-B1ED-B16C3BEB95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4343619"/>
            <a:ext cx="4114800" cy="243818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CCEC1F5-3923-8F19-10C2-4B16C1BD79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4388069"/>
            <a:ext cx="4038600" cy="2019300"/>
          </a:xfrm>
          <a:prstGeom prst="rect">
            <a:avLst/>
          </a:prstGeom>
        </p:spPr>
      </p:pic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B6FAF4CB-6CF7-6F4C-530F-2325696BAB93}"/>
              </a:ext>
            </a:extLst>
          </p:cNvPr>
          <p:cNvSpPr txBox="1">
            <a:spLocks/>
          </p:cNvSpPr>
          <p:nvPr/>
        </p:nvSpPr>
        <p:spPr>
          <a:xfrm>
            <a:off x="462393" y="3886200"/>
            <a:ext cx="11729607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(2025) MD Sampled EV ownership rates by segment (apply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Building weights):</a:t>
            </a:r>
          </a:p>
        </p:txBody>
      </p:sp>
    </p:spTree>
    <p:extLst>
      <p:ext uri="{BB962C8B-B14F-4D97-AF65-F5344CB8AC3E}">
        <p14:creationId xmlns:p14="http://schemas.microsoft.com/office/powerpoint/2010/main" val="147227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1361D-8AC1-7A2D-FBE5-B8755F23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2AB6-1002-5EE4-A8D4-A91C3183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2: Assign Driving Profiles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BD1A06-C1A5-2D7F-655A-588CB0C5574E}"/>
              </a:ext>
            </a:extLst>
          </p:cNvPr>
          <p:cNvSpPr txBox="1">
            <a:spLocks/>
          </p:cNvSpPr>
          <p:nvPr/>
        </p:nvSpPr>
        <p:spPr>
          <a:xfrm>
            <a:off x="805150" y="1219200"/>
            <a:ext cx="8755946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Participants in 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NHTS (2022)</a:t>
            </a:r>
            <a:r>
              <a:rPr lang="en-US" sz="2100" dirty="0">
                <a:latin typeface="Avenir Book" panose="02000503020000020003" pitchFamily="2" charset="0"/>
              </a:rPr>
              <a:t> logged all their trips over a 24-hour period: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375EE30-3F28-FC3F-7A96-5DEFB5DF9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978025"/>
            <a:ext cx="3657600" cy="1679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Each trip log includes: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Start and end time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Why from and why to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Miles traveled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938059-6DCD-5F01-AAFD-B4AA7FD15C63}"/>
              </a:ext>
            </a:extLst>
          </p:cNvPr>
          <p:cNvSpPr/>
          <p:nvPr/>
        </p:nvSpPr>
        <p:spPr>
          <a:xfrm>
            <a:off x="914400" y="1905000"/>
            <a:ext cx="3733800" cy="1828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FD8E33-13F9-F85E-80B0-4E60D4872744}"/>
              </a:ext>
            </a:extLst>
          </p:cNvPr>
          <p:cNvSpPr txBox="1">
            <a:spLocks/>
          </p:cNvSpPr>
          <p:nvPr/>
        </p:nvSpPr>
        <p:spPr>
          <a:xfrm>
            <a:off x="990601" y="4114799"/>
            <a:ext cx="3564082" cy="2209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Plot daily miles traveled by: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Weekday vs. weekend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Urban vs. rural status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Income bucket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Number of occupants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ACD6848-CA90-69C4-9A88-850F3E5DAA39}"/>
              </a:ext>
            </a:extLst>
          </p:cNvPr>
          <p:cNvSpPr/>
          <p:nvPr/>
        </p:nvSpPr>
        <p:spPr>
          <a:xfrm>
            <a:off x="914400" y="4038600"/>
            <a:ext cx="3733800" cy="2209800"/>
          </a:xfrm>
          <a:prstGeom prst="roundRect">
            <a:avLst>
              <a:gd name="adj" fmla="val 55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D30E9E2-7FFA-0CC4-8FBF-C8D11E5A3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676399"/>
            <a:ext cx="5181600" cy="17010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F96A9C-4440-FB4D-2591-96429EBDA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352800"/>
            <a:ext cx="5181600" cy="17010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1B3F4B-DC5E-E10F-B909-BD221D87C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5105400"/>
            <a:ext cx="5181600" cy="170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uiExpand="1" build="p"/>
      <p:bldP spid="16" grpId="0" animBg="1"/>
      <p:bldP spid="7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C139-D85A-121D-E7B2-4615E982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D80E-85A7-42B2-4C3D-F7FF72F7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2: Assign Driving Profiles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CD1C89-D3EB-F8DA-0AC4-C209F8254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640932"/>
              </p:ext>
            </p:extLst>
          </p:nvPr>
        </p:nvGraphicFramePr>
        <p:xfrm>
          <a:off x="381000" y="3316992"/>
          <a:ext cx="11658601" cy="24242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03721">
                  <a:extLst>
                    <a:ext uri="{9D8B030D-6E8A-4147-A177-3AD203B41FA5}">
                      <a16:colId xmlns:a16="http://schemas.microsoft.com/office/drawing/2014/main" val="933848512"/>
                    </a:ext>
                  </a:extLst>
                </a:gridCol>
                <a:gridCol w="772093">
                  <a:extLst>
                    <a:ext uri="{9D8B030D-6E8A-4147-A177-3AD203B41FA5}">
                      <a16:colId xmlns:a16="http://schemas.microsoft.com/office/drawing/2014/main" val="3901514451"/>
                    </a:ext>
                  </a:extLst>
                </a:gridCol>
                <a:gridCol w="967386">
                  <a:extLst>
                    <a:ext uri="{9D8B030D-6E8A-4147-A177-3AD203B41FA5}">
                      <a16:colId xmlns:a16="http://schemas.microsoft.com/office/drawing/2014/main" val="409580383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99968424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3145855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622128750"/>
                    </a:ext>
                  </a:extLst>
                </a:gridCol>
                <a:gridCol w="3276601">
                  <a:extLst>
                    <a:ext uri="{9D8B030D-6E8A-4147-A177-3AD203B41FA5}">
                      <a16:colId xmlns:a16="http://schemas.microsoft.com/office/drawing/2014/main" val="667156954"/>
                    </a:ext>
                  </a:extLst>
                </a:gridCol>
              </a:tblGrid>
              <a:tr h="504022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bldg_id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occupants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weekday_vehicle_profile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weekend_vehicle_profile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567463"/>
                  </a:ext>
                </a:extLst>
              </a:tr>
              <a:tr h="504022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75k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(11,12,6.58,1,14), (11,12,2.44,14,14), (15,16,4.65,14,13), (17,18,2.92,13,1)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(11,12,7.18,1,19), (12,14,7.60,19,1)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984255"/>
                  </a:ext>
                </a:extLst>
              </a:tr>
              <a:tr h="504022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14133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90k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(9,10,24.06,1,3), (18,19,25.85,3,1)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(13,14,0.92,1,12), (13,14,0.88,12,1)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614957"/>
                  </a:ext>
                </a:extLst>
              </a:tr>
              <a:tr h="504022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22397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(8,9,3.97,1,16), (10,11,3.99,16,1)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(9,10,0.57,1,19), (10,11,0.58,19,1)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029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EE6EAC-AEA2-15D7-01C0-6A8BE9FAC6D8}"/>
              </a:ext>
            </a:extLst>
          </p:cNvPr>
          <p:cNvSpPr txBox="1">
            <a:spLocks/>
          </p:cNvSpPr>
          <p:nvPr/>
        </p:nvSpPr>
        <p:spPr>
          <a:xfrm>
            <a:off x="381000" y="2895600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 </a:t>
            </a:r>
            <a:r>
              <a:rPr lang="en-US" sz="2100" dirty="0" err="1">
                <a:latin typeface="Avenir Book" panose="02000503020000020003" pitchFamily="2" charset="0"/>
              </a:rPr>
              <a:t>metadata_df</a:t>
            </a:r>
            <a:r>
              <a:rPr lang="en-US" sz="2100" dirty="0">
                <a:latin typeface="Avenir Book" panose="02000503020000020003" pitchFamily="2" charset="0"/>
              </a:rPr>
              <a:t>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8D948E9-5B6B-2475-D718-DB5002B9F80C}"/>
              </a:ext>
            </a:extLst>
          </p:cNvPr>
          <p:cNvSpPr txBox="1">
            <a:spLocks/>
          </p:cNvSpPr>
          <p:nvPr/>
        </p:nvSpPr>
        <p:spPr>
          <a:xfrm>
            <a:off x="609600" y="1447799"/>
            <a:ext cx="11048999" cy="1447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Filter light-duty vehicles in </a:t>
            </a:r>
            <a:r>
              <a:rPr lang="en-US" sz="2100" b="1" dirty="0">
                <a:solidFill>
                  <a:srgbClr val="3B7D23"/>
                </a:solidFill>
                <a:latin typeface="Avenir Book" panose="02000503020000020003" pitchFamily="2" charset="0"/>
              </a:rPr>
              <a:t>NHTS (2022) </a:t>
            </a:r>
            <a:r>
              <a:rPr lang="en-US" sz="2100" b="1" dirty="0">
                <a:latin typeface="Avenir Book" panose="02000503020000020003" pitchFamily="2" charset="0"/>
              </a:rPr>
              <a:t>dataset: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At least one logged trip (no idle vehicles)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Feasible to charge and complete trips with largest battery + level 2 charger + 20% buffer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F0C77F-C705-9F95-EE38-EE5336888A55}"/>
              </a:ext>
            </a:extLst>
          </p:cNvPr>
          <p:cNvSpPr/>
          <p:nvPr/>
        </p:nvSpPr>
        <p:spPr>
          <a:xfrm>
            <a:off x="533400" y="1371600"/>
            <a:ext cx="11125200" cy="1371600"/>
          </a:xfrm>
          <a:prstGeom prst="roundRect">
            <a:avLst>
              <a:gd name="adj" fmla="val 1130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15CBA4-8B69-139D-FB4D-445114755AE7}"/>
              </a:ext>
            </a:extLst>
          </p:cNvPr>
          <p:cNvSpPr txBox="1">
            <a:spLocks/>
          </p:cNvSpPr>
          <p:nvPr/>
        </p:nvSpPr>
        <p:spPr>
          <a:xfrm>
            <a:off x="914401" y="6019799"/>
            <a:ext cx="9905999" cy="68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NHTS why from &amp; why to keys</a:t>
            </a:r>
            <a:r>
              <a:rPr lang="en-US" sz="2100" dirty="0">
                <a:latin typeface="Avenir Book" panose="02000503020000020003" pitchFamily="2" charset="0"/>
              </a:rPr>
              <a:t>: 1=home, 3=work, 12=buy groceries, 13=buy services, 14=buy meals, 16=exercise, 19=social/recreational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17D2E4-EC91-1606-9C52-A169CA36F4BE}"/>
              </a:ext>
            </a:extLst>
          </p:cNvPr>
          <p:cNvSpPr/>
          <p:nvPr/>
        </p:nvSpPr>
        <p:spPr>
          <a:xfrm>
            <a:off x="838200" y="5943600"/>
            <a:ext cx="9982200" cy="762000"/>
          </a:xfrm>
          <a:prstGeom prst="roundRect">
            <a:avLst>
              <a:gd name="adj" fmla="val 2589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9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 animBg="1"/>
      <p:bldP spid="12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889C-1BBD-AF19-5B2D-5D356E01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C68A-1496-72B9-93B7-9DF204D3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3: Simulate Annual Travel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C4E019-8B73-AEE0-A631-6DA64AB7A2A3}"/>
              </a:ext>
            </a:extLst>
          </p:cNvPr>
          <p:cNvSpPr txBox="1">
            <a:spLocks/>
          </p:cNvSpPr>
          <p:nvPr/>
        </p:nvSpPr>
        <p:spPr>
          <a:xfrm>
            <a:off x="805149" y="1219200"/>
            <a:ext cx="1138685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Generate an annual trip profile by stitching together random realizations from vehicle profiles.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2F374F-3C53-CE6D-68D5-25C3EA4164D2}"/>
              </a:ext>
            </a:extLst>
          </p:cNvPr>
          <p:cNvCxnSpPr/>
          <p:nvPr/>
        </p:nvCxnSpPr>
        <p:spPr>
          <a:xfrm>
            <a:off x="990600" y="2514600"/>
            <a:ext cx="990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4E9207-BF13-6699-EB07-E0439310F76A}"/>
              </a:ext>
            </a:extLst>
          </p:cNvPr>
          <p:cNvCxnSpPr/>
          <p:nvPr/>
        </p:nvCxnSpPr>
        <p:spPr>
          <a:xfrm>
            <a:off x="990600" y="2286000"/>
            <a:ext cx="0" cy="45720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52A82D2-6633-7D1F-BF3D-374F2E4132DE}"/>
              </a:ext>
            </a:extLst>
          </p:cNvPr>
          <p:cNvSpPr txBox="1">
            <a:spLocks/>
          </p:cNvSpPr>
          <p:nvPr/>
        </p:nvSpPr>
        <p:spPr>
          <a:xfrm>
            <a:off x="838200" y="2819400"/>
            <a:ext cx="8534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Monday, Jan 1, 2018: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A8DF9B0-0EB8-B59B-F243-D5E0E6F58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3273425"/>
            <a:ext cx="4953000" cy="2441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For each trip: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Draw random departure and arrival offsets from: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A915A4F-4A1E-D576-9564-29CC02242BCE}"/>
              </a:ext>
            </a:extLst>
          </p:cNvPr>
          <p:cNvSpPr/>
          <p:nvPr/>
        </p:nvSpPr>
        <p:spPr>
          <a:xfrm>
            <a:off x="914399" y="3200400"/>
            <a:ext cx="11031415" cy="2614246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B482B76-3303-876F-8C52-87F3B77C6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495440"/>
              </p:ext>
            </p:extLst>
          </p:nvPr>
        </p:nvGraphicFramePr>
        <p:xfrm>
          <a:off x="1295400" y="4419600"/>
          <a:ext cx="4343400" cy="990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1403558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196380375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1939291869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21582399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306113476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1342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0.05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0.10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0.70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0.10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0.05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455390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5239E-C363-411C-2B08-AC2B713607F7}"/>
              </a:ext>
            </a:extLst>
          </p:cNvPr>
          <p:cNvSpPr txBox="1">
            <a:spLocks/>
          </p:cNvSpPr>
          <p:nvPr/>
        </p:nvSpPr>
        <p:spPr>
          <a:xfrm>
            <a:off x="5943600" y="3276601"/>
            <a:ext cx="49530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100" dirty="0">
              <a:latin typeface="Avenir Book" panose="02000503020000020003" pitchFamily="2" charset="0"/>
            </a:endParaRPr>
          </a:p>
          <a:p>
            <a:r>
              <a:rPr lang="en-US" sz="2100" dirty="0">
                <a:latin typeface="Avenir Book" panose="02000503020000020003" pitchFamily="2" charset="0"/>
              </a:rPr>
              <a:t>Draw miles traveled from: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263121D-68B3-9737-0F27-103A874D22AB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2108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For each building with an EV in </a:t>
            </a: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(2024):</a:t>
            </a:r>
            <a:endParaRPr lang="en-US" sz="2100" dirty="0">
              <a:latin typeface="Avenir Book" panose="02000503020000020003" pitchFamily="2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C052D38-FFE9-173F-02BE-F4BA9CAC1E53}"/>
              </a:ext>
            </a:extLst>
          </p:cNvPr>
          <p:cNvSpPr txBox="1">
            <a:spLocks/>
          </p:cNvSpPr>
          <p:nvPr/>
        </p:nvSpPr>
        <p:spPr>
          <a:xfrm>
            <a:off x="6355491" y="4127157"/>
            <a:ext cx="3109785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b="1" dirty="0">
                <a:solidFill>
                  <a:srgbClr val="3B7D23"/>
                </a:solidFill>
                <a:latin typeface="Avenir Book" panose="02000503020000020003" pitchFamily="2" charset="0"/>
              </a:rPr>
              <a:t>~N(miles, (0.1*miles)^2)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E3638A5-8040-F5A9-D9E3-51797C305089}"/>
              </a:ext>
            </a:extLst>
          </p:cNvPr>
          <p:cNvSpPr txBox="1">
            <a:spLocks/>
          </p:cNvSpPr>
          <p:nvPr/>
        </p:nvSpPr>
        <p:spPr>
          <a:xfrm>
            <a:off x="838200" y="6019800"/>
            <a:ext cx="8153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Repeat to get an annual travel schedule!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F0709E-A108-8A9F-58E3-4B9F0E7EDF5E}"/>
              </a:ext>
            </a:extLst>
          </p:cNvPr>
          <p:cNvCxnSpPr/>
          <p:nvPr/>
        </p:nvCxnSpPr>
        <p:spPr>
          <a:xfrm>
            <a:off x="3733800" y="2286000"/>
            <a:ext cx="0" cy="45720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562A06-8E68-F8C2-F85D-D11500A156F8}"/>
              </a:ext>
            </a:extLst>
          </p:cNvPr>
          <p:cNvCxnSpPr/>
          <p:nvPr/>
        </p:nvCxnSpPr>
        <p:spPr>
          <a:xfrm>
            <a:off x="6477000" y="2286000"/>
            <a:ext cx="0" cy="45720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5E6693-A5CB-CFC4-EDBA-7EEBBF003CA7}"/>
              </a:ext>
            </a:extLst>
          </p:cNvPr>
          <p:cNvCxnSpPr/>
          <p:nvPr/>
        </p:nvCxnSpPr>
        <p:spPr>
          <a:xfrm>
            <a:off x="9220200" y="2286000"/>
            <a:ext cx="0" cy="45720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143A6-1C0F-C6AE-089C-82CD0B384F29}"/>
              </a:ext>
            </a:extLst>
          </p:cNvPr>
          <p:cNvSpPr txBox="1">
            <a:spLocks/>
          </p:cNvSpPr>
          <p:nvPr/>
        </p:nvSpPr>
        <p:spPr>
          <a:xfrm>
            <a:off x="5935361" y="4658498"/>
            <a:ext cx="5741774" cy="1087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venir Book" panose="02000503020000020003" pitchFamily="2" charset="0"/>
              </a:rPr>
              <a:t>Add an additional trip that moves the vehicle at home or away if needed (to ensure smoothness across days)</a:t>
            </a:r>
          </a:p>
        </p:txBody>
      </p:sp>
    </p:spTree>
    <p:extLst>
      <p:ext uri="{BB962C8B-B14F-4D97-AF65-F5344CB8AC3E}">
        <p14:creationId xmlns:p14="http://schemas.microsoft.com/office/powerpoint/2010/main" val="119936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A4392-9EE0-535C-B8EF-CECFB453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893F-5A69-B93C-9126-96729BECD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3: Simulate Annual Travel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65DCE7-A942-14DF-CBF9-A872C13846A7}"/>
              </a:ext>
            </a:extLst>
          </p:cNvPr>
          <p:cNvSpPr txBox="1">
            <a:spLocks/>
          </p:cNvSpPr>
          <p:nvPr/>
        </p:nvSpPr>
        <p:spPr>
          <a:xfrm>
            <a:off x="805149" y="1143000"/>
            <a:ext cx="902465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Summary of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simulated annual travel profiles: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BB3C92-8777-58B6-E296-32A8D0DECD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091"/>
          <a:stretch>
            <a:fillRect/>
          </a:stretch>
        </p:blipFill>
        <p:spPr>
          <a:xfrm>
            <a:off x="1814384" y="1456382"/>
            <a:ext cx="7772400" cy="2856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1F349B-3308-941E-D35A-8EF23FD2E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242" y="4205332"/>
            <a:ext cx="7898028" cy="253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6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CB2D5-DFA6-BD94-EE48-9470F03B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E006-0F77-92BA-491F-155043C9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4: Assign Battery Characteristics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A9194E-020B-138D-A507-CE9C16DD2ED6}"/>
              </a:ext>
            </a:extLst>
          </p:cNvPr>
          <p:cNvSpPr txBox="1">
            <a:spLocks/>
          </p:cNvSpPr>
          <p:nvPr/>
        </p:nvSpPr>
        <p:spPr>
          <a:xfrm>
            <a:off x="805149" y="1219200"/>
            <a:ext cx="490985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 (2025)</a:t>
            </a:r>
            <a:r>
              <a:rPr lang="en-US" sz="2100" dirty="0">
                <a:latin typeface="Avenir Book" panose="02000503020000020003" pitchFamily="2" charset="0"/>
              </a:rPr>
              <a:t> allows for 7 EV types: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9FC94C-A583-991B-BDDA-D3BE5CDE2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825626"/>
            <a:ext cx="4191000" cy="21367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EV Types: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Compact (200 or 300 mi range)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Midsize (200 or 300 mi range)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SUV (200 or 300 mi range)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Pickup (300 mi range)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21F5FE1-05A7-95E1-7215-F05D972804F8}"/>
              </a:ext>
            </a:extLst>
          </p:cNvPr>
          <p:cNvSpPr/>
          <p:nvPr/>
        </p:nvSpPr>
        <p:spPr>
          <a:xfrm>
            <a:off x="914400" y="1676400"/>
            <a:ext cx="4267200" cy="2282825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D90AD60D-8C9E-A759-AF46-43BA8EE98081}"/>
              </a:ext>
            </a:extLst>
          </p:cNvPr>
          <p:cNvSpPr/>
          <p:nvPr/>
        </p:nvSpPr>
        <p:spPr>
          <a:xfrm>
            <a:off x="5791200" y="2511426"/>
            <a:ext cx="914400" cy="3048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451D89-1B04-CD2F-84BE-9FC46B3FB35E}"/>
              </a:ext>
            </a:extLst>
          </p:cNvPr>
          <p:cNvSpPr txBox="1">
            <a:spLocks/>
          </p:cNvSpPr>
          <p:nvPr/>
        </p:nvSpPr>
        <p:spPr>
          <a:xfrm>
            <a:off x="7391400" y="2479294"/>
            <a:ext cx="2667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P(EV type | own EV)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09E07A-A178-9A08-5889-49E1CC4FDB3C}"/>
              </a:ext>
            </a:extLst>
          </p:cNvPr>
          <p:cNvSpPr/>
          <p:nvPr/>
        </p:nvSpPr>
        <p:spPr>
          <a:xfrm>
            <a:off x="7205949" y="2325975"/>
            <a:ext cx="2852451" cy="685800"/>
          </a:xfrm>
          <a:prstGeom prst="roundRect">
            <a:avLst>
              <a:gd name="adj" fmla="val 206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8466BE-9A01-DEC5-614B-4EBC9BD86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711642"/>
              </p:ext>
            </p:extLst>
          </p:nvPr>
        </p:nvGraphicFramePr>
        <p:xfrm>
          <a:off x="914400" y="4495800"/>
          <a:ext cx="10439400" cy="2057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132011142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428218713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44127017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3205259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2386358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721643489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bldg_id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max daily miles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 option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capacity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kWh/mi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86345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30.6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SUV (300 mi)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0.2789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053788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14133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100.4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Compact (200 mi)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40.17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0.2099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934379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22397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16.0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SUV (300 mi)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0.2789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058521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434C8E-05C0-E494-5D38-5E4FB295E160}"/>
              </a:ext>
            </a:extLst>
          </p:cNvPr>
          <p:cNvSpPr txBox="1">
            <a:spLocks/>
          </p:cNvSpPr>
          <p:nvPr/>
        </p:nvSpPr>
        <p:spPr>
          <a:xfrm>
            <a:off x="838200" y="4114800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 </a:t>
            </a:r>
            <a:r>
              <a:rPr lang="en-US" sz="2100" dirty="0" err="1">
                <a:latin typeface="Avenir Book" panose="02000503020000020003" pitchFamily="2" charset="0"/>
              </a:rPr>
              <a:t>metadata_df</a:t>
            </a:r>
            <a:r>
              <a:rPr lang="en-US" sz="2100" dirty="0">
                <a:latin typeface="Avenir Book" panose="02000503020000020003" pitchFamily="2" charset="0"/>
              </a:rPr>
              <a:t>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A60CFB-DABD-F47C-BDBA-EC9F18D8F66B}"/>
              </a:ext>
            </a:extLst>
          </p:cNvPr>
          <p:cNvSpPr txBox="1">
            <a:spLocks/>
          </p:cNvSpPr>
          <p:nvPr/>
        </p:nvSpPr>
        <p:spPr>
          <a:xfrm>
            <a:off x="5334000" y="3410465"/>
            <a:ext cx="6477000" cy="1161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Draw EV type from distribution of vehicle types that can cover max daily miles + 20% buffer and is feasible with a Level 2 charger.</a:t>
            </a:r>
          </a:p>
        </p:txBody>
      </p:sp>
    </p:spTree>
    <p:extLst>
      <p:ext uri="{BB962C8B-B14F-4D97-AF65-F5344CB8AC3E}">
        <p14:creationId xmlns:p14="http://schemas.microsoft.com/office/powerpoint/2010/main" val="113089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build="p"/>
      <p:bldP spid="16" grpId="0" animBg="1"/>
      <p:bldP spid="3" grpId="0" animBg="1"/>
      <p:bldP spid="4" grpId="0"/>
      <p:bldP spid="5" grpId="0" animBg="1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A0FB-44B2-4C24-D081-7AD8CC97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2354-4118-F328-1991-414338A8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4: Assign Battery Characteristics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2A2C6D-B0F4-4AFF-115C-9B844587B557}"/>
              </a:ext>
            </a:extLst>
          </p:cNvPr>
          <p:cNvSpPr txBox="1">
            <a:spLocks/>
          </p:cNvSpPr>
          <p:nvPr/>
        </p:nvSpPr>
        <p:spPr>
          <a:xfrm>
            <a:off x="1143000" y="1524000"/>
            <a:ext cx="5867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EV Types in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Sample: 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A474A2B-EC6D-5CC7-5F01-A0B9F2D25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331840"/>
              </p:ext>
            </p:extLst>
          </p:nvPr>
        </p:nvGraphicFramePr>
        <p:xfrm>
          <a:off x="6629400" y="2057400"/>
          <a:ext cx="48768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2474997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76301840"/>
                    </a:ext>
                  </a:extLst>
                </a:gridCol>
              </a:tblGrid>
              <a:tr h="647700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Headroom (miles) = battery capacity (kWh) / efficiency (kWh/mi) – max daily miles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28213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Mean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206.25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37151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Standard Deviation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61.27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507015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Minimum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35.43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54410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Maximum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295.29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03933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490A4A3-FD41-3102-7DB8-4868F281D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9" r="50371" b="45851"/>
          <a:stretch>
            <a:fillRect/>
          </a:stretch>
        </p:blipFill>
        <p:spPr>
          <a:xfrm>
            <a:off x="1147118" y="2001794"/>
            <a:ext cx="4895335" cy="357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2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CB46-AEF3-E1F6-535B-12F9768DC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906A-9235-5017-0C4A-EAB44705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5: Home Charging Fraction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0898F4F-5167-7683-E57C-D629460243EA}"/>
              </a:ext>
            </a:extLst>
          </p:cNvPr>
          <p:cNvSpPr txBox="1">
            <a:spLocks/>
          </p:cNvSpPr>
          <p:nvPr/>
        </p:nvSpPr>
        <p:spPr>
          <a:xfrm>
            <a:off x="805149" y="1219200"/>
            <a:ext cx="8029932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 (2025)</a:t>
            </a:r>
            <a:r>
              <a:rPr lang="en-US" sz="2100" dirty="0">
                <a:latin typeface="Avenir Book" panose="02000503020000020003" pitchFamily="2" charset="0"/>
              </a:rPr>
              <a:t> has home charging fractions by segment: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2BCA55-2F86-6785-2493-B2E57CBB2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837983"/>
            <a:ext cx="2283941" cy="979358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Avenir Book" panose="02000503020000020003" pitchFamily="2" charset="0"/>
              </a:rPr>
              <a:t>FPL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Building type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2F78E61-F923-A96D-25B7-982683207712}"/>
              </a:ext>
            </a:extLst>
          </p:cNvPr>
          <p:cNvSpPr/>
          <p:nvPr/>
        </p:nvSpPr>
        <p:spPr>
          <a:xfrm>
            <a:off x="914400" y="1688757"/>
            <a:ext cx="2310714" cy="1178011"/>
          </a:xfrm>
          <a:prstGeom prst="roundRect">
            <a:avLst>
              <a:gd name="adj" fmla="val 135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1FB6AD85-278B-57C7-B988-C370CC16CAEF}"/>
              </a:ext>
            </a:extLst>
          </p:cNvPr>
          <p:cNvSpPr/>
          <p:nvPr/>
        </p:nvSpPr>
        <p:spPr>
          <a:xfrm>
            <a:off x="3492843" y="2091297"/>
            <a:ext cx="914400" cy="3048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54F035-22A3-5161-46B4-BEAD5CB561E4}"/>
              </a:ext>
            </a:extLst>
          </p:cNvPr>
          <p:cNvSpPr txBox="1">
            <a:spLocks/>
          </p:cNvSpPr>
          <p:nvPr/>
        </p:nvSpPr>
        <p:spPr>
          <a:xfrm>
            <a:off x="5093042" y="2059165"/>
            <a:ext cx="4396947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P(Home charging fraction | own EV)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D1CE93-4954-6CC3-D8D6-2FE938FE5F8A}"/>
              </a:ext>
            </a:extLst>
          </p:cNvPr>
          <p:cNvSpPr/>
          <p:nvPr/>
        </p:nvSpPr>
        <p:spPr>
          <a:xfrm>
            <a:off x="4907592" y="1905846"/>
            <a:ext cx="4743035" cy="685800"/>
          </a:xfrm>
          <a:prstGeom prst="roundRect">
            <a:avLst>
              <a:gd name="adj" fmla="val 206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76F7CD-1C3A-F352-D984-498E9CEDE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74441"/>
              </p:ext>
            </p:extLst>
          </p:nvPr>
        </p:nvGraphicFramePr>
        <p:xfrm>
          <a:off x="914400" y="4458730"/>
          <a:ext cx="8808308" cy="2057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7524">
                  <a:extLst>
                    <a:ext uri="{9D8B030D-6E8A-4147-A177-3AD203B41FA5}">
                      <a16:colId xmlns:a16="http://schemas.microsoft.com/office/drawing/2014/main" val="1320111423"/>
                    </a:ext>
                  </a:extLst>
                </a:gridCol>
                <a:gridCol w="1482811">
                  <a:extLst>
                    <a:ext uri="{9D8B030D-6E8A-4147-A177-3AD203B41FA5}">
                      <a16:colId xmlns:a16="http://schemas.microsoft.com/office/drawing/2014/main" val="4282187139"/>
                    </a:ext>
                  </a:extLst>
                </a:gridCol>
                <a:gridCol w="2051222">
                  <a:extLst>
                    <a:ext uri="{9D8B030D-6E8A-4147-A177-3AD203B41FA5}">
                      <a16:colId xmlns:a16="http://schemas.microsoft.com/office/drawing/2014/main" val="3441270175"/>
                    </a:ext>
                  </a:extLst>
                </a:gridCol>
                <a:gridCol w="1112108">
                  <a:extLst>
                    <a:ext uri="{9D8B030D-6E8A-4147-A177-3AD203B41FA5}">
                      <a16:colId xmlns:a16="http://schemas.microsoft.com/office/drawing/2014/main" val="2238635865"/>
                    </a:ext>
                  </a:extLst>
                </a:gridCol>
                <a:gridCol w="2654643">
                  <a:extLst>
                    <a:ext uri="{9D8B030D-6E8A-4147-A177-3AD203B41FA5}">
                      <a16:colId xmlns:a16="http://schemas.microsoft.com/office/drawing/2014/main" val="2721643489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bldg_id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fpl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building_type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Home charging fraction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86345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1.0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053788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14133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>
                    <a:solidFill>
                      <a:srgbClr val="F1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rgbClr val="F1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934379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22397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1.0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058521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3F4D3B5-4EA5-486D-D844-6304502474D6}"/>
              </a:ext>
            </a:extLst>
          </p:cNvPr>
          <p:cNvSpPr txBox="1">
            <a:spLocks/>
          </p:cNvSpPr>
          <p:nvPr/>
        </p:nvSpPr>
        <p:spPr>
          <a:xfrm>
            <a:off x="838200" y="4077730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 </a:t>
            </a:r>
            <a:r>
              <a:rPr lang="en-US" sz="2100" dirty="0" err="1">
                <a:latin typeface="Avenir Book" panose="02000503020000020003" pitchFamily="2" charset="0"/>
              </a:rPr>
              <a:t>metadata_df</a:t>
            </a:r>
            <a:r>
              <a:rPr lang="en-US" sz="2100" dirty="0">
                <a:latin typeface="Avenir Book" panose="02000503020000020003" pitchFamily="2" charset="0"/>
              </a:rPr>
              <a:t>: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C0681C-E70F-AC2F-5171-03480AF3B982}"/>
              </a:ext>
            </a:extLst>
          </p:cNvPr>
          <p:cNvSpPr txBox="1">
            <a:spLocks/>
          </p:cNvSpPr>
          <p:nvPr/>
        </p:nvSpPr>
        <p:spPr>
          <a:xfrm>
            <a:off x="1093573" y="3323673"/>
            <a:ext cx="6876536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Assumption: fraction applied uniformly to all discharge!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2B0D98-CBA8-89AA-ADED-24EA31BD614F}"/>
              </a:ext>
            </a:extLst>
          </p:cNvPr>
          <p:cNvSpPr/>
          <p:nvPr/>
        </p:nvSpPr>
        <p:spPr>
          <a:xfrm>
            <a:off x="908122" y="3170354"/>
            <a:ext cx="7148483" cy="685800"/>
          </a:xfrm>
          <a:prstGeom prst="roundRect">
            <a:avLst>
              <a:gd name="adj" fmla="val 206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1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build="p"/>
      <p:bldP spid="16" grpId="0" animBg="1"/>
      <p:bldP spid="3" grpId="0" animBg="1"/>
      <p:bldP spid="4" grpId="0"/>
      <p:bldP spid="5" grpId="0" animBg="1"/>
      <p:bldP spid="11" grpId="0"/>
      <p:bldP spid="12" grpId="0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CB466-9501-0325-223A-EBB20300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6EB3-D914-2C47-8669-7A180E66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5: Home Charging Fraction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26B50A0-3267-F9B5-9B2B-C1AC4F9660F2}"/>
              </a:ext>
            </a:extLst>
          </p:cNvPr>
          <p:cNvSpPr txBox="1">
            <a:spLocks/>
          </p:cNvSpPr>
          <p:nvPr/>
        </p:nvSpPr>
        <p:spPr>
          <a:xfrm>
            <a:off x="2440459" y="1301578"/>
            <a:ext cx="7123672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Home Charging Fractions in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Sample: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895BB7-278B-7120-2CDC-C8C25DA48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52" y="1668505"/>
            <a:ext cx="75438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598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E764-D9C9-5CC0-3561-A3F77F18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334D-51E2-C92D-0746-7E93E116A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6: Assign Charger Characteristics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72909E9-E058-6996-24CE-033BC71964C1}"/>
              </a:ext>
            </a:extLst>
          </p:cNvPr>
          <p:cNvSpPr txBox="1">
            <a:spLocks/>
          </p:cNvSpPr>
          <p:nvPr/>
        </p:nvSpPr>
        <p:spPr>
          <a:xfrm>
            <a:off x="805149" y="1330413"/>
            <a:ext cx="9364462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 (2025)</a:t>
            </a:r>
            <a:r>
              <a:rPr lang="en-US" sz="2100" b="1" dirty="0">
                <a:latin typeface="Avenir Book" panose="02000503020000020003" pitchFamily="2" charset="0"/>
              </a:rPr>
              <a:t> </a:t>
            </a:r>
            <a:r>
              <a:rPr lang="en-US" sz="2100" dirty="0">
                <a:latin typeface="Avenir Book" panose="02000503020000020003" pitchFamily="2" charset="0"/>
              </a:rPr>
              <a:t>provides probabilities of level 1 or 2 charger by segment: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DB5272A-8A86-54E3-2298-78C044710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936839"/>
            <a:ext cx="4191000" cy="1337704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Avenir Book" panose="02000503020000020003" pitchFamily="2" charset="0"/>
              </a:rPr>
              <a:t>FPL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Building type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Tenure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DD012D5-A6E6-B1FD-0AF2-0277FF3D3CDD}"/>
              </a:ext>
            </a:extLst>
          </p:cNvPr>
          <p:cNvSpPr/>
          <p:nvPr/>
        </p:nvSpPr>
        <p:spPr>
          <a:xfrm>
            <a:off x="914400" y="1787614"/>
            <a:ext cx="2607276" cy="1524000"/>
          </a:xfrm>
          <a:prstGeom prst="roundRect">
            <a:avLst>
              <a:gd name="adj" fmla="val 1026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3A5AEA8-4C81-4DFB-1738-E3579B13BBE4}"/>
              </a:ext>
            </a:extLst>
          </p:cNvPr>
          <p:cNvSpPr/>
          <p:nvPr/>
        </p:nvSpPr>
        <p:spPr>
          <a:xfrm>
            <a:off x="3851189" y="2350790"/>
            <a:ext cx="914400" cy="3048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3C2AA-67DA-8EA1-0F05-B4DEEFB76820}"/>
              </a:ext>
            </a:extLst>
          </p:cNvPr>
          <p:cNvSpPr txBox="1">
            <a:spLocks/>
          </p:cNvSpPr>
          <p:nvPr/>
        </p:nvSpPr>
        <p:spPr>
          <a:xfrm>
            <a:off x="5451389" y="2318658"/>
            <a:ext cx="3173628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P(charger type | own EV)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FB6F4A4-268F-E377-ED0F-E2728B8B6E41}"/>
              </a:ext>
            </a:extLst>
          </p:cNvPr>
          <p:cNvSpPr/>
          <p:nvPr/>
        </p:nvSpPr>
        <p:spPr>
          <a:xfrm>
            <a:off x="5265938" y="2165339"/>
            <a:ext cx="3433219" cy="685800"/>
          </a:xfrm>
          <a:prstGeom prst="roundRect">
            <a:avLst>
              <a:gd name="adj" fmla="val 206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DB361E-812A-B9F0-9F70-A451B8976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810199"/>
              </p:ext>
            </p:extLst>
          </p:nvPr>
        </p:nvGraphicFramePr>
        <p:xfrm>
          <a:off x="914400" y="4310448"/>
          <a:ext cx="10439400" cy="2057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7524">
                  <a:extLst>
                    <a:ext uri="{9D8B030D-6E8A-4147-A177-3AD203B41FA5}">
                      <a16:colId xmlns:a16="http://schemas.microsoft.com/office/drawing/2014/main" val="1320111423"/>
                    </a:ext>
                  </a:extLst>
                </a:gridCol>
                <a:gridCol w="1482811">
                  <a:extLst>
                    <a:ext uri="{9D8B030D-6E8A-4147-A177-3AD203B41FA5}">
                      <a16:colId xmlns:a16="http://schemas.microsoft.com/office/drawing/2014/main" val="4282187139"/>
                    </a:ext>
                  </a:extLst>
                </a:gridCol>
                <a:gridCol w="2051222">
                  <a:extLst>
                    <a:ext uri="{9D8B030D-6E8A-4147-A177-3AD203B41FA5}">
                      <a16:colId xmlns:a16="http://schemas.microsoft.com/office/drawing/2014/main" val="3441270175"/>
                    </a:ext>
                  </a:extLst>
                </a:gridCol>
                <a:gridCol w="1631092">
                  <a:extLst>
                    <a:ext uri="{9D8B030D-6E8A-4147-A177-3AD203B41FA5}">
                      <a16:colId xmlns:a16="http://schemas.microsoft.com/office/drawing/2014/main" val="2632052592"/>
                    </a:ext>
                  </a:extLst>
                </a:gridCol>
                <a:gridCol w="1544594">
                  <a:extLst>
                    <a:ext uri="{9D8B030D-6E8A-4147-A177-3AD203B41FA5}">
                      <a16:colId xmlns:a16="http://schemas.microsoft.com/office/drawing/2014/main" val="2238635865"/>
                    </a:ext>
                  </a:extLst>
                </a:gridCol>
                <a:gridCol w="2222157">
                  <a:extLst>
                    <a:ext uri="{9D8B030D-6E8A-4147-A177-3AD203B41FA5}">
                      <a16:colId xmlns:a16="http://schemas.microsoft.com/office/drawing/2014/main" val="2721643489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bldg_id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fpl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building_type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tenure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Charger type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86345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Owner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Level 1 (1.6 kW)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053788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14133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>
                    <a:solidFill>
                      <a:srgbClr val="F1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Owner</a:t>
                      </a:r>
                    </a:p>
                  </a:txBody>
                  <a:tcPr>
                    <a:solidFill>
                      <a:srgbClr val="F1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rgbClr val="F1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Level 2 (7.2 kW)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934379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22397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Owner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rgbClr val="DFC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Level 1 (1.6 kW)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058521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C7868E-6A6B-A1B4-8769-C9F0AFCFFCCE}"/>
              </a:ext>
            </a:extLst>
          </p:cNvPr>
          <p:cNvSpPr txBox="1">
            <a:spLocks/>
          </p:cNvSpPr>
          <p:nvPr/>
        </p:nvSpPr>
        <p:spPr>
          <a:xfrm>
            <a:off x="838200" y="3929448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 </a:t>
            </a:r>
            <a:r>
              <a:rPr lang="en-US" sz="2100" dirty="0" err="1">
                <a:latin typeface="Avenir Book" panose="02000503020000020003" pitchFamily="2" charset="0"/>
              </a:rPr>
              <a:t>metadata_df</a:t>
            </a:r>
            <a:r>
              <a:rPr lang="en-US" sz="2100" dirty="0">
                <a:latin typeface="Avenir Book" panose="02000503020000020003" pitchFamily="2" charset="0"/>
              </a:rPr>
              <a:t>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75FF2A-C403-E110-9F56-F2F3FFD2FE57}"/>
              </a:ext>
            </a:extLst>
          </p:cNvPr>
          <p:cNvSpPr txBox="1">
            <a:spLocks/>
          </p:cNvSpPr>
          <p:nvPr/>
        </p:nvSpPr>
        <p:spPr>
          <a:xfrm>
            <a:off x="5334000" y="3225113"/>
            <a:ext cx="6477000" cy="1161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Draw charger type from distribution of chargers that are feasible with a perfect-foresight home immediate charging policy + 20% buffer.</a:t>
            </a:r>
          </a:p>
        </p:txBody>
      </p:sp>
    </p:spTree>
    <p:extLst>
      <p:ext uri="{BB962C8B-B14F-4D97-AF65-F5344CB8AC3E}">
        <p14:creationId xmlns:p14="http://schemas.microsoft.com/office/powerpoint/2010/main" val="345098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uiExpand="1" build="p"/>
      <p:bldP spid="16" grpId="0" animBg="1"/>
      <p:bldP spid="3" grpId="0" animBg="1"/>
      <p:bldP spid="4" grpId="0"/>
      <p:bldP spid="5" grpId="0" animBg="1"/>
      <p:bldP spid="7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502D-AB21-4B0E-3B49-78EE2ECC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27F9-60F6-48F1-04FE-97887ACB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6: Assign Charger Characteristics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50B776-9413-1372-0225-C987E1F19C29}"/>
              </a:ext>
            </a:extLst>
          </p:cNvPr>
          <p:cNvSpPr txBox="1">
            <a:spLocks/>
          </p:cNvSpPr>
          <p:nvPr/>
        </p:nvSpPr>
        <p:spPr>
          <a:xfrm>
            <a:off x="2971800" y="1301577"/>
            <a:ext cx="5867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Charger Types in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Sample: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CB455-B944-FCFB-8D19-F421BB3D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642" y="1702508"/>
            <a:ext cx="5670088" cy="515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08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E641-C446-C444-1C39-68FE6DA78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6DA8-F5C8-152E-CA66-98D34C1FF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Assumptions in Steps 2-5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E257B-CC49-42CD-42A5-AC4E8F8B613C}"/>
              </a:ext>
            </a:extLst>
          </p:cNvPr>
          <p:cNvSpPr txBox="1">
            <a:spLocks/>
          </p:cNvSpPr>
          <p:nvPr/>
        </p:nvSpPr>
        <p:spPr>
          <a:xfrm>
            <a:off x="914400" y="1523999"/>
            <a:ext cx="9448800" cy="4800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b="1" dirty="0">
                <a:latin typeface="Avenir Book" panose="02000503020000020003" pitchFamily="2" charset="0"/>
              </a:rPr>
              <a:t>Assumptions: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One-to-one correspondence between NHTS participant travel schedule and vehicle trip profile.</a:t>
            </a:r>
          </a:p>
          <a:p>
            <a:pPr lvl="1"/>
            <a:r>
              <a:rPr lang="en-US" sz="1800" dirty="0">
                <a:latin typeface="Avenir Book" panose="02000503020000020003" pitchFamily="2" charset="0"/>
              </a:rPr>
              <a:t>NHTS surveys are filtered to consider one person’s trips in one vehicle.</a:t>
            </a:r>
          </a:p>
          <a:p>
            <a:pPr lvl="1"/>
            <a:r>
              <a:rPr lang="en-US" sz="1800" dirty="0">
                <a:latin typeface="Avenir Book" panose="02000503020000020003" pitchFamily="2" charset="0"/>
              </a:rPr>
              <a:t>Assumption: each EV is only driven by one owner.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Urban/rural flags in NHTS profiles are matched to </a:t>
            </a:r>
            <a:r>
              <a:rPr lang="en-US" sz="2100" dirty="0" err="1">
                <a:latin typeface="Avenir Book" panose="02000503020000020003" pitchFamily="2" charset="0"/>
              </a:rPr>
              <a:t>in.puma_metro_status</a:t>
            </a:r>
            <a:r>
              <a:rPr lang="en-US" sz="2100" dirty="0">
                <a:latin typeface="Avenir Book" panose="02000503020000020003" pitchFamily="2" charset="0"/>
              </a:rPr>
              <a:t> flag in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data (which may not be exact).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Weekend and weekday travel profiles are different but they are consistent year round.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No explicit dependence between owning an EV and trip profiles.</a:t>
            </a:r>
          </a:p>
          <a:p>
            <a:pPr lvl="1"/>
            <a:r>
              <a:rPr lang="en-US" sz="1800" dirty="0">
                <a:latin typeface="Avenir Book" panose="02000503020000020003" pitchFamily="2" charset="0"/>
              </a:rPr>
              <a:t>E.g., EV owners might take shorter trips, or maybe they drive more because charging a car is cheaper than owning a gas-powered vehicle.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No correlation between EV schedule and rest of home base load (e.g., dishwasher, washing machine, HVAC, etc.)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53FC5F-133D-5952-82A5-7BE272CEE1EC}"/>
              </a:ext>
            </a:extLst>
          </p:cNvPr>
          <p:cNvSpPr/>
          <p:nvPr/>
        </p:nvSpPr>
        <p:spPr>
          <a:xfrm>
            <a:off x="762000" y="1371600"/>
            <a:ext cx="9906000" cy="50292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29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AB431-3B2B-C71C-3E5E-D9832029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CB04-E23D-8FC5-2121-6E128331B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7442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7: Model at home/away &amp; discharge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17A1AA7-235A-66DC-112E-D4C138B3C7C2}"/>
              </a:ext>
            </a:extLst>
          </p:cNvPr>
          <p:cNvSpPr txBox="1">
            <a:spLocks/>
          </p:cNvSpPr>
          <p:nvPr/>
        </p:nvSpPr>
        <p:spPr>
          <a:xfrm>
            <a:off x="741405" y="1342768"/>
            <a:ext cx="5189839" cy="807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From each EV owner’s travel schedule + vehicle type, we can construct the table: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565871-976D-6345-7A8E-01826711A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142356"/>
              </p:ext>
            </p:extLst>
          </p:nvPr>
        </p:nvGraphicFramePr>
        <p:xfrm>
          <a:off x="5878370" y="1297459"/>
          <a:ext cx="5791200" cy="538338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0567178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199033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224896925"/>
                    </a:ext>
                  </a:extLst>
                </a:gridCol>
              </a:tblGrid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EV at home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Discharge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379264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648888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11am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2.976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319403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12pm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404708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1pm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1.033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150619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41673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3pm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1.730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276650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4pm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557639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5pm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0.595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140437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6pm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0.589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84030"/>
                  </a:ext>
                </a:extLst>
              </a:tr>
              <a:tr h="4893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Jan 1, 2018, 7pm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234438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AC8831-41DD-8AD8-3507-44D32FFC93F3}"/>
              </a:ext>
            </a:extLst>
          </p:cNvPr>
          <p:cNvSpPr txBox="1">
            <a:spLocks/>
          </p:cNvSpPr>
          <p:nvPr/>
        </p:nvSpPr>
        <p:spPr>
          <a:xfrm>
            <a:off x="729047" y="2183028"/>
            <a:ext cx="525574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Ex: </a:t>
            </a: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bldg_id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=3870 in </a:t>
            </a: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</a:t>
            </a:r>
            <a:endParaRPr lang="en-US" sz="2100" dirty="0">
              <a:latin typeface="Avenir Book" panose="02000503020000020003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EA05C6-B681-15D8-ACE2-FB2E7ED19E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18"/>
          <a:stretch>
            <a:fillRect/>
          </a:stretch>
        </p:blipFill>
        <p:spPr>
          <a:xfrm>
            <a:off x="1406861" y="3506629"/>
            <a:ext cx="2885661" cy="213749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B405C9-48CD-3487-33B2-17DD9C982088}"/>
              </a:ext>
            </a:extLst>
          </p:cNvPr>
          <p:cNvSpPr txBox="1">
            <a:spLocks/>
          </p:cNvSpPr>
          <p:nvPr/>
        </p:nvSpPr>
        <p:spPr>
          <a:xfrm>
            <a:off x="906594" y="2842799"/>
            <a:ext cx="4191000" cy="2265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dirty="0">
                <a:latin typeface="Avenir Book" panose="02000503020000020003" pitchFamily="2" charset="0"/>
              </a:rPr>
              <a:t>Apply temperature scaling factor to get kWh discharged: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2ED1A08-59C7-888A-70D7-E2F047A6BDFC}"/>
              </a:ext>
            </a:extLst>
          </p:cNvPr>
          <p:cNvSpPr/>
          <p:nvPr/>
        </p:nvSpPr>
        <p:spPr>
          <a:xfrm>
            <a:off x="830394" y="2713845"/>
            <a:ext cx="4267200" cy="2971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6464E36-D0C6-DBAB-38D7-9037409D4699}"/>
              </a:ext>
            </a:extLst>
          </p:cNvPr>
          <p:cNvSpPr txBox="1">
            <a:spLocks/>
          </p:cNvSpPr>
          <p:nvPr/>
        </p:nvSpPr>
        <p:spPr>
          <a:xfrm>
            <a:off x="720811" y="5881817"/>
            <a:ext cx="5189839" cy="807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Assumption: miles are split uniformly among hours for each trip.</a:t>
            </a:r>
          </a:p>
        </p:txBody>
      </p:sp>
    </p:spTree>
    <p:extLst>
      <p:ext uri="{BB962C8B-B14F-4D97-AF65-F5344CB8AC3E}">
        <p14:creationId xmlns:p14="http://schemas.microsoft.com/office/powerpoint/2010/main" val="50705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A4D1-15A9-CAE5-8E95-CDF9F256A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F88E-65AD-011D-612C-6C1F4DA1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7442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8: Choose Charging Policy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BED0-724B-3B2E-D33E-7E184905A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383519"/>
              </p:ext>
            </p:extLst>
          </p:nvPr>
        </p:nvGraphicFramePr>
        <p:xfrm>
          <a:off x="936756" y="1272745"/>
          <a:ext cx="7010456" cy="53566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73679">
                  <a:extLst>
                    <a:ext uri="{9D8B030D-6E8A-4147-A177-3AD203B41FA5}">
                      <a16:colId xmlns:a16="http://schemas.microsoft.com/office/drawing/2014/main" val="1056717882"/>
                    </a:ext>
                  </a:extLst>
                </a:gridCol>
                <a:gridCol w="1250577">
                  <a:extLst>
                    <a:ext uri="{9D8B030D-6E8A-4147-A177-3AD203B41FA5}">
                      <a16:colId xmlns:a16="http://schemas.microsoft.com/office/drawing/2014/main" val="341990335"/>
                    </a:ext>
                  </a:extLst>
                </a:gridCol>
                <a:gridCol w="1721223">
                  <a:extLst>
                    <a:ext uri="{9D8B030D-6E8A-4147-A177-3AD203B41FA5}">
                      <a16:colId xmlns:a16="http://schemas.microsoft.com/office/drawing/2014/main" val="3224896925"/>
                    </a:ext>
                  </a:extLst>
                </a:gridCol>
                <a:gridCol w="2164977">
                  <a:extLst>
                    <a:ext uri="{9D8B030D-6E8A-4147-A177-3AD203B41FA5}">
                      <a16:colId xmlns:a16="http://schemas.microsoft.com/office/drawing/2014/main" val="3021744343"/>
                    </a:ext>
                  </a:extLst>
                </a:gridCol>
              </a:tblGrid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EV at home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Discharge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State of charge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379264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648888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11am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2.976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319403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12pm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80.704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404708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1pm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1.033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80.704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150619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79.670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41673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3pm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1.730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79.670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276650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4pm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77.940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557639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5pm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0.595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77.940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140437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6pm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0.589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77.345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84030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7pm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76.756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234438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8pm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76.756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546021"/>
                  </a:ext>
                </a:extLst>
              </a:tr>
              <a:tr h="412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Jan 1, 2018, 9pm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venir Book" panose="02000503020000020003" pitchFamily="2" charset="0"/>
                        </a:rPr>
                        <a:t>78.356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262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90398-7316-1982-679F-884B49158CC8}"/>
              </a:ext>
            </a:extLst>
          </p:cNvPr>
          <p:cNvSpPr txBox="1">
            <a:spLocks/>
          </p:cNvSpPr>
          <p:nvPr/>
        </p:nvSpPr>
        <p:spPr>
          <a:xfrm>
            <a:off x="8377881" y="1451919"/>
            <a:ext cx="3124200" cy="4256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b="1" dirty="0">
                <a:latin typeface="Avenir Book" panose="02000503020000020003" pitchFamily="2" charset="0"/>
              </a:rPr>
              <a:t>Charging Policies:</a:t>
            </a:r>
          </a:p>
          <a:p>
            <a:r>
              <a:rPr lang="en-US" sz="2100" b="1" dirty="0">
                <a:latin typeface="Avenir Book" panose="02000503020000020003" pitchFamily="2" charset="0"/>
              </a:rPr>
              <a:t>Immediate: </a:t>
            </a:r>
            <a:r>
              <a:rPr lang="en-US" sz="2100" dirty="0">
                <a:latin typeface="Avenir Book" panose="02000503020000020003" pitchFamily="2" charset="0"/>
              </a:rPr>
              <a:t>charge as soon as vehicle returns home at max power until full or leaves for next trip</a:t>
            </a:r>
          </a:p>
          <a:p>
            <a:r>
              <a:rPr lang="en-US" sz="2100" b="1" dirty="0">
                <a:latin typeface="Avenir Book" panose="02000503020000020003" pitchFamily="2" charset="0"/>
              </a:rPr>
              <a:t>TOU immediate: </a:t>
            </a:r>
            <a:r>
              <a:rPr lang="en-US" sz="2100" dirty="0">
                <a:latin typeface="Avenir Book" panose="02000503020000020003" pitchFamily="2" charset="0"/>
              </a:rPr>
              <a:t>charge at start of off-peak period at max power until full or leaves for next trip (with emergency on-peak charging)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5BDE4A5-3BED-C04E-1BCA-A40782FF6A40}"/>
              </a:ext>
            </a:extLst>
          </p:cNvPr>
          <p:cNvSpPr/>
          <p:nvPr/>
        </p:nvSpPr>
        <p:spPr>
          <a:xfrm>
            <a:off x="8225481" y="1299519"/>
            <a:ext cx="3429000" cy="438459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2E4B98-D311-7EB1-1B86-AC93CFF34288}"/>
              </a:ext>
            </a:extLst>
          </p:cNvPr>
          <p:cNvSpPr txBox="1">
            <a:spLocks/>
          </p:cNvSpPr>
          <p:nvPr/>
        </p:nvSpPr>
        <p:spPr>
          <a:xfrm>
            <a:off x="8204885" y="6001266"/>
            <a:ext cx="3225115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Ex: </a:t>
            </a: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bldg_id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=3870 cont’d</a:t>
            </a:r>
            <a:endParaRPr lang="en-US" sz="21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648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249B-E48C-C93F-1B0C-BC66C31E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CE95A-E8C3-6DDD-BD29-D031C302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8: Choose Charging Policy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23866-C03A-1995-8EF1-6A1856531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91" y="1920105"/>
            <a:ext cx="7910041" cy="337373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20E7B1-0861-5C09-A973-87D06FCE2920}"/>
              </a:ext>
            </a:extLst>
          </p:cNvPr>
          <p:cNvSpPr txBox="1">
            <a:spLocks/>
          </p:cNvSpPr>
          <p:nvPr/>
        </p:nvSpPr>
        <p:spPr>
          <a:xfrm>
            <a:off x="834080" y="1437504"/>
            <a:ext cx="7296665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Sample day of </a:t>
            </a:r>
            <a:r>
              <a:rPr lang="en-US" sz="2100" dirty="0" err="1">
                <a:latin typeface="Avenir Book" panose="02000503020000020003" pitchFamily="2" charset="0"/>
              </a:rPr>
              <a:t>bldg_id</a:t>
            </a:r>
            <a:r>
              <a:rPr lang="en-US" sz="2100" dirty="0">
                <a:latin typeface="Avenir Book" panose="02000503020000020003" pitchFamily="2" charset="0"/>
              </a:rPr>
              <a:t>=336412 in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9467DB-B669-1B06-9D25-D6A4A4E6697B}"/>
              </a:ext>
            </a:extLst>
          </p:cNvPr>
          <p:cNvSpPr txBox="1">
            <a:spLocks/>
          </p:cNvSpPr>
          <p:nvPr/>
        </p:nvSpPr>
        <p:spPr>
          <a:xfrm>
            <a:off x="8995718" y="2496066"/>
            <a:ext cx="3068531" cy="2632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BGE Summer TOU rate for EVs (SOS only):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On-peak (10am-8pm): 23.636 cents/kWh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Off-peak (all other hours): 9.981 cents/kWh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9ECB83-66C1-88E1-1573-5B841C1EBCB4}"/>
              </a:ext>
            </a:extLst>
          </p:cNvPr>
          <p:cNvSpPr/>
          <p:nvPr/>
        </p:nvSpPr>
        <p:spPr>
          <a:xfrm>
            <a:off x="8785654" y="2248931"/>
            <a:ext cx="3274540" cy="2817341"/>
          </a:xfrm>
          <a:prstGeom prst="roundRect">
            <a:avLst>
              <a:gd name="adj" fmla="val 92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A86AD1-1C44-D512-86EB-2442444A35E2}"/>
              </a:ext>
            </a:extLst>
          </p:cNvPr>
          <p:cNvSpPr txBox="1">
            <a:spLocks/>
          </p:cNvSpPr>
          <p:nvPr/>
        </p:nvSpPr>
        <p:spPr>
          <a:xfrm>
            <a:off x="745524" y="5597615"/>
            <a:ext cx="8966887" cy="807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Under the TOU Immediate policy, charging is shifted to start at 8pm!</a:t>
            </a:r>
          </a:p>
        </p:txBody>
      </p:sp>
    </p:spTree>
    <p:extLst>
      <p:ext uri="{BB962C8B-B14F-4D97-AF65-F5344CB8AC3E}">
        <p14:creationId xmlns:p14="http://schemas.microsoft.com/office/powerpoint/2010/main" val="2936005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353D-3D02-EA2B-B0CB-CC7151BF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A4CD-F8E6-E567-F981-AFE787814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Total Bill Payments under TOU rate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37728D-6165-6113-CE8F-84DF7EDA3012}"/>
              </a:ext>
            </a:extLst>
          </p:cNvPr>
          <p:cNvSpPr txBox="1">
            <a:spLocks/>
          </p:cNvSpPr>
          <p:nvPr/>
        </p:nvSpPr>
        <p:spPr>
          <a:xfrm>
            <a:off x="850556" y="1295400"/>
            <a:ext cx="10319951" cy="817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Total annual SOS bills for EV charging and total charging by peak period in MD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sample. Both plots are stock-weighted.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0BA92-5441-EB86-DF30-3C01F4DB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18" y="1925764"/>
            <a:ext cx="10028612" cy="383248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70B0609-9CDB-EF38-2CD4-8C8D9AA57E92}"/>
              </a:ext>
            </a:extLst>
          </p:cNvPr>
          <p:cNvSpPr txBox="1">
            <a:spLocks/>
          </p:cNvSpPr>
          <p:nvPr/>
        </p:nvSpPr>
        <p:spPr>
          <a:xfrm>
            <a:off x="856735" y="5844750"/>
            <a:ext cx="10338487" cy="807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If all Maryland households with EVs use the TOU immediate policy, then the TOU rate allows them to save $4.4 million collectively over the year.</a:t>
            </a:r>
          </a:p>
        </p:txBody>
      </p:sp>
    </p:spTree>
    <p:extLst>
      <p:ext uri="{BB962C8B-B14F-4D97-AF65-F5344CB8AC3E}">
        <p14:creationId xmlns:p14="http://schemas.microsoft.com/office/powerpoint/2010/main" val="383146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CC3D-5A3A-7285-26B6-2DB0C9B5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47E0-F07B-8ADA-9C9B-8E4166FD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Aggregate Charging Load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A05DF9-43B9-9C77-372B-D4E9FE63D077}"/>
              </a:ext>
            </a:extLst>
          </p:cNvPr>
          <p:cNvSpPr txBox="1">
            <a:spLocks/>
          </p:cNvSpPr>
          <p:nvPr/>
        </p:nvSpPr>
        <p:spPr>
          <a:xfrm>
            <a:off x="838200" y="1295400"/>
            <a:ext cx="9677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EV aggregate charging load + base load sample: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FEC09B-2AE9-C1AB-1123-128BA3AA4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935679"/>
              </p:ext>
            </p:extLst>
          </p:nvPr>
        </p:nvGraphicFramePr>
        <p:xfrm>
          <a:off x="8896351" y="2782330"/>
          <a:ext cx="2992908" cy="2228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454">
                  <a:extLst>
                    <a:ext uri="{9D8B030D-6E8A-4147-A177-3AD203B41FA5}">
                      <a16:colId xmlns:a16="http://schemas.microsoft.com/office/drawing/2014/main" val="2354032441"/>
                    </a:ext>
                  </a:extLst>
                </a:gridCol>
                <a:gridCol w="1496454">
                  <a:extLst>
                    <a:ext uri="{9D8B030D-6E8A-4147-A177-3AD203B41FA5}">
                      <a16:colId xmlns:a16="http://schemas.microsoft.com/office/drawing/2014/main" val="321288873"/>
                    </a:ext>
                  </a:extLst>
                </a:gridCol>
              </a:tblGrid>
              <a:tr h="742950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Peak Hourly EV + Base Load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30773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Immediate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1028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37228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Off-peak immediate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1278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72665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6A87B9C-F7EB-D13B-8BE7-A709EB3A0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10" y="1979656"/>
            <a:ext cx="7772400" cy="386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325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3ACF0-E8DE-A312-9F8A-E62564DE8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EC483-C272-59DF-156D-F3D87B348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Peak Demand as EV Adoption Scales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1DD231-0D57-0523-3020-1E7F8BFA89A9}"/>
              </a:ext>
            </a:extLst>
          </p:cNvPr>
          <p:cNvSpPr txBox="1">
            <a:spLocks/>
          </p:cNvSpPr>
          <p:nvPr/>
        </p:nvSpPr>
        <p:spPr>
          <a:xfrm>
            <a:off x="838200" y="1295400"/>
            <a:ext cx="9677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EV share of peak residential demand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1CF1FF-10F6-4787-512C-D681D956E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72" y="1874966"/>
            <a:ext cx="7580782" cy="424162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D08B2F-9480-7023-C0E2-E37895512956}"/>
              </a:ext>
            </a:extLst>
          </p:cNvPr>
          <p:cNvSpPr txBox="1">
            <a:spLocks/>
          </p:cNvSpPr>
          <p:nvPr/>
        </p:nvSpPr>
        <p:spPr>
          <a:xfrm>
            <a:off x="8723870" y="2656704"/>
            <a:ext cx="3068531" cy="3348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At higher EV adoption levels: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TOU rate creates new demand peak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Future work should stagger charging or consider other rate types (e.g., demand charges)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C22AAB-39DA-B92E-1FC8-074C90C85569}"/>
              </a:ext>
            </a:extLst>
          </p:cNvPr>
          <p:cNvSpPr/>
          <p:nvPr/>
        </p:nvSpPr>
        <p:spPr>
          <a:xfrm>
            <a:off x="8513806" y="2409569"/>
            <a:ext cx="3274540" cy="3361036"/>
          </a:xfrm>
          <a:prstGeom prst="roundRect">
            <a:avLst>
              <a:gd name="adj" fmla="val 92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06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8313</TotalTime>
  <Words>1861</Words>
  <Application>Microsoft Macintosh PowerPoint</Application>
  <PresentationFormat>Widescreen</PresentationFormat>
  <Paragraphs>377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Avenir Book</vt:lpstr>
      <vt:lpstr>Office Theme</vt:lpstr>
      <vt:lpstr>Modeling the Residential  EV Charging Load </vt:lpstr>
      <vt:lpstr>Motivating Questions</vt:lpstr>
      <vt:lpstr>PowerPoint Presentation</vt:lpstr>
      <vt:lpstr>Step 1: Model EV Adoption</vt:lpstr>
      <vt:lpstr>Step 1: Model EV Adoption</vt:lpstr>
      <vt:lpstr>Step 2: Assign Driving Profiles</vt:lpstr>
      <vt:lpstr>Step 2: Assign Driving Profiles</vt:lpstr>
      <vt:lpstr>Step 3: Simulate Annual Travel</vt:lpstr>
      <vt:lpstr>Step 3: Simulate Annual Travel</vt:lpstr>
      <vt:lpstr>Step 4: Assign Battery Characteristics</vt:lpstr>
      <vt:lpstr>Step 4: Assign Battery Characteristics</vt:lpstr>
      <vt:lpstr>Step 5: Home Charging Fraction</vt:lpstr>
      <vt:lpstr>Step 5: Home Charging Fraction</vt:lpstr>
      <vt:lpstr>Step 6: Assign Charger Characteristics</vt:lpstr>
      <vt:lpstr>Step 6: Assign Charger Characteristics</vt:lpstr>
      <vt:lpstr>Assumptions in Steps 2-5</vt:lpstr>
      <vt:lpstr>Step 7: Model at home/away &amp; discharge</vt:lpstr>
      <vt:lpstr>Step 8: Choose Charging Policy</vt:lpstr>
      <vt:lpstr>Step 8: Choose Charging Policy</vt:lpstr>
      <vt:lpstr>Total Bill Payments under TOU rate</vt:lpstr>
      <vt:lpstr>Aggregate Charging Load</vt:lpstr>
      <vt:lpstr>Peak Demand as EV Adoption Scales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Lilianna Mulan Gittoes</dc:creator>
  <cp:lastModifiedBy>Lilianna Mulan Gittoes</cp:lastModifiedBy>
  <cp:revision>47</cp:revision>
  <dcterms:created xsi:type="dcterms:W3CDTF">2026-07-19T01:25:40Z</dcterms:created>
  <dcterms:modified xsi:type="dcterms:W3CDTF">2026-08-27T17:35:13Z</dcterms:modified>
</cp:coreProperties>
</file>